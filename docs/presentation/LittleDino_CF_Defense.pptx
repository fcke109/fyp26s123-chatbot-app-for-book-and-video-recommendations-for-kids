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project context. Little Dino is an Android chatbot for kids that recommends safe books and videos. This presentation focuses on the Collaborative Filtering recommendation engine — the core algorithmic contribution of the project. I'll cover the problem framing, why I chose a hybrid approach, the implementation in detail (signal capture, similarity computation, score blending), and engineering decisions such as parallel data fetching.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constraints drive the recommendation design. (1) Cold start — kids in our target age range can't formulate detailed queries. We need to populate the chat welcome screen with relevant items even when the child has typed nothing. (2) Content overload — the app aggregates from multiple book sources plus a curated library, easily thousands of items. Without a ranker, every child gets the same boring popular list. (3) Safety — every recommendation must be appropriate. The filter happens before scoring; we never score then hope to filter, because a single inappropriate impression is too costly.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evaluated three approaches. Pure content-based filtering recommends only items similar to ones the child has already engaged with — this gives no diversity, the child stays in a bubble. Pure user-based CF gives strong serendipity but cold-starts badly: with zero users, the app would have nothing to recommend. I chose hybrid CF — a 50/50 blend of user-based and item-based scores. User-based brings 'children like you also liked X'; item-based brings 'this is similar to what you've already enjoyed'. They cover each other's blind spots.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flow: user actions (tapping favorite, reading a book, watching a video) write into two Firestore subcollections — favorites and readingHistory. When the chat opens, ChatViewModel.loadRecommendations() asks the CF service to compute fresh recommendations. The CF service reads ALL interactions (not just the target user's), builds a user-item matrix in memory, runs both scoring algorithms, blends them, filters for kid-safety and age, and returns the top 8. Crucially, this is computed live every time — there's no batch precomputation, which keeps the system simple at the cost of higher per-request work. We discuss the scaling implications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CF system needs a 'rating'-like signal but children don't rate. So we infer ratings from behavior. Three weight buckets: favorites are explicit and weighted heaviest at 3.0. Completed reads/watches imply the child stayed engaged — 2.5. Started-but-not-finished still carries useful information at 1.5. If the same child both favorites AND finishes an item, the duplicate-merge step sums to 5.5, which I think is correct — combined behavior is stronger evidence than either alone. These numbers were tuned empirically; the model isn't very sensitive because cosine similarity is scale-invariant within a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subtle but important engineering detail. The first version of loadAllInteractions awaited each user's items collection sequentially in a for loop. With N users that's N round-trips end-to-end, perceptibly slow on the chat home screen — especially over mobile data. The fix: launch all per-user fetches in parallel using async{}, then awaitAll() once at the end. Total wall-clock time becomes roughly the slowest single fetch, not the sum. On Spark plan with no caching layer, this is the cheapest performance win available — pure client-side coroutine restructuring, no backend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User-based CF answers the question 'what do users like me enjoy?'. The formula is a weighted average: for every other user, compute similarity to the target, then accumulate that user's rating for each item, weighted by similarity. Then normalize by the sum of similarities so we don't unfairly favor popular items. Walk through the code: the outer loop iterates over all other users; cosine similarity tells us how alike their interaction patterns are; for each item that other user has rated and the target hasn't seen, we add a weighted contribution. Key choices on the right: skipping self (would always be perfectly similar but useless), skipping non-positive similarity (orthogonal users add noise), normalization (prevents popularity bias), and excluding items the child has already seen — that last one is a hard rule, never recommend something already engaged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Item-based CF flips the perspective. Instead of finding similar users, we find similar items. The intuition: if many users who liked Book A also liked Book B, then A and B are 'similar' regardless of what specific users said. Implementation requires transposing the user-item matrix into an item-user matrix. Then for each item the target child has already engaged with, we find candidate items with similar user-rating patterns, weight by the child's enthusiasm for the seen item, and sum. Item-based is more stable than user-based: items don't change their interaction profile minute-to-minute. User behavior fluctuates; item co-occurrence accumulates monotonically. This is why most production recommender systems lean heavier on item-based — but for a small kid app I weight them equally to maintain serendipity.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Cosine similarity is the workhorse. The intuition: treat each user (or item) as a vector in interaction-space, where each dimension is one possible item. The cosine of the angle between two vectors tells you how aligned their preferences are, regardless of how many items each has rated. Three reasons cosine over alternatives. (1) Sparsity: real user vectors are mostly zero — cosine only sums over keys that exist in both, no need to materialize full vectors. (2) Scale-invariance: a child with 100 favorites and one with 5 favorites can be similar if their proportional preferences match. Euclidean distance would unfairly penalize the heavy user. (3) All our weights are non-negative, so cosine stays in [0,1] — easy to compose with the normalization in the user-based formula.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blend is a simple linear combination, 50/50. There's a research literature on optimal hybrid weights — for our small dataset, equal weighting is well-justified: we have no a-priori reason to favor one signal. If the dataset grows we could tune this empirically with held-out validation. Items with finalScore = 0 are dropped — these are items neither user-based nor item-based saw any signal for. No noise in the output. Explainability matters for kids and parents. Each recommendation carries a reason string derived from which sub-score dominated. The UI surfaces this — 'recommended because similar users liked this video'. Not just transparency: it builds trust with parents who want to know WHY their child is being shown a particular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layers of filtering, applied in order: kid-safety, age band, and seen-exclusion. The kid-safety filter is enforced upstream — items missing isKidSafe never enter the candidate pool, so the algorithm cannot accidentally surface them. The age band uses an asymmetric rule. The minimum age is strict — we never show content too mature for the child. But the maximum age is relaxed by AGE_FLOOR_SLACK, set to 4 years. The reason: the curated library skews young (lots of ageMax ≤ 12), so without the slack, a 15-year-old would have a tiny candidate pool. The slack lets older kids see middle-grade titles with strong signal. Seen-exclusion is enforced inside both scoring loops, not after — saves wasted similarity computation on items we'd drop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assessment: this implementation works at FYP scale and won't work at production scale. The dominant term is U² × Ī from user-based scoring — quadratic in the number of active users, every time the chat opens. With a few thousand users this is fine on a modern phone; beyond that, latency becomes noticeable. The roadmap is three phases. Phase 1 is what we have. Phase 2 moves the computation to a nightly Cloud Function that writes precomputed top-Ns into Firestore — the client just reads a tiny doc. The constraint was Spark plan: no Cloud Functions, so I couldn't ship Phase 2. Phase 3 would replace cosine with SVD or ALS-based matrix factorization, learning low-dimensional user/item embeddings — standard production-grade approach. I want to be transparent that I prioritized algorithmic correctness and explainability over scale. The codebase is structured so any phase swap-in is a single class replacement.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open the app, log in as a test child, show the welcome-screen recommendations. Point out the 'Users like you have…' header — that's the CF branding. Each card shows title, age band, and match percentage. The match % is finalScore × 100 — directly visible explainability. Three behavioral observations from informal testing. (1) Cold start with very few interactions, the algorithm correctly returns nothing (finalScore = 0 filter), and the UI falls through to popularity-by-category. (2) A sparse user with ~10 interactions sees user-based dominate — they get items from peer favorites. (3) An active user with 50+ interactions sees item-based take over — recommendations sharpen toward established taste. The recommendations are recomputed every time the chat opens. No precomputation, no staleness.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reflections worth surfacing in viva. (1) Transparency wins trust. Adding a one-line reason string per recommendation cost almost nothing but transformed the demo from a black box into something parents and examiners could probe. (2) Concurrency before caching. The single biggest perceived performance win was restructuring sequential awaits to parallel async — no infrastructure, just better Kotlin. (3) Hard rules over soft scoring. Both kid-safety and seen-item exclusion are filters, not score penalties. A soft penalty always has an exploit at the right multiplier; filters can't be bypassed by the algorithm. (4) Plan-tier constraints shape design. Being on Spark plan ruled out Cloud Functions, which is why the algorithm runs client-side. I treat that as a documented tradeoff, not a limitation hidden in the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Be ready for likely viva questions: (a) why 50/50 weighting? — see slide 10 notes. (b) what happens if a user has no interactions yet? — algorithm returns empty, UI falls through to popularity. (c) how do you prevent a malicious user gaming the recommendations? — every interaction is tied to authenticated userId; anonymous writes are blocked at Firestore rules level. (d) is cosine the best choice? — discuss alternatives like Pearson (handles rating bias but we have implicit weights) or Jaccard (good for binary, loses our weight nuance). (e) why on-device? — Spark plan constraint, plus latency win on warm cache. Phase 2 of the roadmap addresses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0" y="4114800"/>
            <a:ext cx="12161520" cy="54864"/>
          </a:xfrm>
          <a:prstGeom prst="rect">
            <a:avLst/>
          </a:prstGeom>
          <a:solidFill>
            <a:srgbClr val="1C7293"/>
          </a:solidFill>
          <a:ln w="12700">
            <a:solidFill>
              <a:srgbClr val="1C7293"/>
            </a:solidFill>
            <a:prstDash val="solid"/>
          </a:ln>
        </p:spPr>
      </p:sp>
      <p:sp>
        <p:nvSpPr>
          <p:cNvPr id="3" name="Text 1"/>
          <p:cNvSpPr/>
          <p:nvPr/>
        </p:nvSpPr>
        <p:spPr>
          <a:xfrm>
            <a:off x="731520" y="1463040"/>
            <a:ext cx="10698480" cy="9144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Hybrid Collaborative Filtering</a:t>
            </a:r>
            <a:endParaRPr lang="en-US" sz="5400" dirty="0"/>
          </a:p>
        </p:txBody>
      </p:sp>
      <p:sp>
        <p:nvSpPr>
          <p:cNvPr id="4" name="Text 2"/>
          <p:cNvSpPr/>
          <p:nvPr/>
        </p:nvSpPr>
        <p:spPr>
          <a:xfrm>
            <a:off x="731520" y="2468880"/>
            <a:ext cx="10698480" cy="640080"/>
          </a:xfrm>
          <a:prstGeom prst="rect">
            <a:avLst/>
          </a:prstGeom>
          <a:noFill/>
          <a:ln/>
        </p:spPr>
        <p:txBody>
          <a:bodyPr wrap="square" lIns="0" tIns="0" rIns="0" bIns="0" rtlCol="0" anchor="ctr"/>
          <a:lstStyle/>
          <a:p>
            <a:pPr indent="0" marL="0">
              <a:buNone/>
            </a:pPr>
            <a:r>
              <a:rPr lang="en-US" sz="2600" i="1" dirty="0">
                <a:solidFill>
                  <a:srgbClr val="FFFFFF"/>
                </a:solidFill>
                <a:latin typeface="Cambria" pitchFamily="34" charset="0"/>
                <a:ea typeface="Cambria" pitchFamily="34" charset="-122"/>
                <a:cs typeface="Cambria" pitchFamily="34" charset="-120"/>
              </a:rPr>
              <a:t>for Kid-Safe Book and Video Recommendations</a:t>
            </a:r>
            <a:endParaRPr lang="en-US" sz="2600" dirty="0"/>
          </a:p>
        </p:txBody>
      </p:sp>
      <p:sp>
        <p:nvSpPr>
          <p:cNvPr id="5" name="Text 3"/>
          <p:cNvSpPr/>
          <p:nvPr/>
        </p:nvSpPr>
        <p:spPr>
          <a:xfrm>
            <a:off x="731520" y="3383280"/>
            <a:ext cx="10698480" cy="45720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Little Dino · Chatbot App for Book and Video Recommendations for Kids</a:t>
            </a:r>
            <a:endParaRPr lang="en-US" sz="1400" dirty="0"/>
          </a:p>
        </p:txBody>
      </p:sp>
      <p:sp>
        <p:nvSpPr>
          <p:cNvPr id="6" name="Text 4"/>
          <p:cNvSpPr/>
          <p:nvPr/>
        </p:nvSpPr>
        <p:spPr>
          <a:xfrm>
            <a:off x="731520" y="4572000"/>
            <a:ext cx="10698480" cy="4572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Felix Eng Cheng Kang</a:t>
            </a:r>
            <a:endParaRPr lang="en-US" sz="1800" dirty="0"/>
          </a:p>
        </p:txBody>
      </p:sp>
      <p:sp>
        <p:nvSpPr>
          <p:cNvPr id="7" name="Text 5"/>
          <p:cNvSpPr/>
          <p:nvPr/>
        </p:nvSpPr>
        <p:spPr>
          <a:xfrm>
            <a:off x="731520" y="5029200"/>
            <a:ext cx="10698480" cy="365760"/>
          </a:xfrm>
          <a:prstGeom prst="rect">
            <a:avLst/>
          </a:prstGeom>
          <a:noFill/>
          <a:ln/>
        </p:spPr>
        <p:txBody>
          <a:bodyPr wrap="square" lIns="0" tIns="0" rIns="0" bIns="0" rtlCol="0" anchor="ctr"/>
          <a:lstStyle/>
          <a:p>
            <a:pPr indent="0" marL="0">
              <a:buNone/>
            </a:pPr>
            <a:r>
              <a:rPr lang="en-US" sz="1300" dirty="0">
                <a:solidFill>
                  <a:srgbClr val="9DB4E0"/>
                </a:solidFill>
                <a:latin typeface="Calibri" pitchFamily="34" charset="0"/>
                <a:ea typeface="Calibri" pitchFamily="34" charset="-122"/>
                <a:cs typeface="Calibri" pitchFamily="34" charset="-120"/>
              </a:rPr>
              <a:t>Final Year Project · FYP26S123</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65A82"/>
          </a:solidFill>
          <a:ln w="12700">
            <a:solidFill>
              <a:srgbClr val="065A82"/>
            </a:solidFill>
            <a:prstDash val="solid"/>
          </a:ln>
        </p:spPr>
      </p:sp>
      <p:sp>
        <p:nvSpPr>
          <p:cNvPr id="3" name="Text 1"/>
          <p:cNvSpPr/>
          <p:nvPr/>
        </p:nvSpPr>
        <p:spPr>
          <a:xfrm>
            <a:off x="457200" y="320040"/>
            <a:ext cx="11430000" cy="59436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Why We Need Recommendations</a:t>
            </a:r>
            <a:endParaRPr lang="en-US" sz="3200" dirty="0"/>
          </a:p>
        </p:txBody>
      </p:sp>
      <p:sp>
        <p:nvSpPr>
          <p:cNvPr id="4" name="Text 2"/>
          <p:cNvSpPr/>
          <p:nvPr/>
        </p:nvSpPr>
        <p:spPr>
          <a:xfrm>
            <a:off x="457200" y="914400"/>
            <a:ext cx="11430000" cy="36576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Three constraints unique to children's content discovery</a:t>
            </a:r>
            <a:endParaRPr lang="en-US" sz="1400" dirty="0"/>
          </a:p>
        </p:txBody>
      </p:sp>
      <p:sp>
        <p:nvSpPr>
          <p:cNvPr id="5" name="Text 3"/>
          <p:cNvSpPr/>
          <p:nvPr/>
        </p:nvSpPr>
        <p:spPr>
          <a:xfrm>
            <a:off x="457200" y="6492240"/>
            <a:ext cx="548640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Little Dino · FYP26S123</a:t>
            </a:r>
            <a:endParaRPr lang="en-US" sz="900" dirty="0"/>
          </a:p>
        </p:txBody>
      </p:sp>
      <p:sp>
        <p:nvSpPr>
          <p:cNvPr id="6" name="Shape 4"/>
          <p:cNvSpPr/>
          <p:nvPr/>
        </p:nvSpPr>
        <p:spPr>
          <a:xfrm>
            <a:off x="548640" y="1554480"/>
            <a:ext cx="3383280" cy="420624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48640" y="1554480"/>
            <a:ext cx="3383280" cy="91440"/>
          </a:xfrm>
          <a:prstGeom prst="rect">
            <a:avLst/>
          </a:prstGeom>
          <a:solidFill>
            <a:srgbClr val="065A82"/>
          </a:solidFill>
          <a:ln w="12700">
            <a:solidFill>
              <a:srgbClr val="065A82"/>
            </a:solidFill>
            <a:prstDash val="solid"/>
          </a:ln>
        </p:spPr>
      </p:sp>
      <p:sp>
        <p:nvSpPr>
          <p:cNvPr id="8" name="Text 6"/>
          <p:cNvSpPr/>
          <p:nvPr/>
        </p:nvSpPr>
        <p:spPr>
          <a:xfrm>
            <a:off x="822960" y="1828800"/>
            <a:ext cx="2834640" cy="548640"/>
          </a:xfrm>
          <a:prstGeom prst="rect">
            <a:avLst/>
          </a:prstGeom>
          <a:noFill/>
          <a:ln/>
        </p:spPr>
        <p:txBody>
          <a:bodyPr wrap="square" lIns="0" tIns="0" rIns="0" bIns="0" rtlCol="0" anchor="ctr"/>
          <a:lstStyle/>
          <a:p>
            <a:pPr indent="0" marL="0">
              <a:buNone/>
            </a:pPr>
            <a:r>
              <a:rPr lang="en-US" sz="2200" b="1" dirty="0">
                <a:solidFill>
                  <a:srgbClr val="21295C"/>
                </a:solidFill>
                <a:latin typeface="Cambria" pitchFamily="34" charset="0"/>
                <a:ea typeface="Cambria" pitchFamily="34" charset="-122"/>
                <a:cs typeface="Cambria" pitchFamily="34" charset="-120"/>
              </a:rPr>
              <a:t>Cold start</a:t>
            </a:r>
            <a:endParaRPr lang="en-US" sz="2200" dirty="0"/>
          </a:p>
        </p:txBody>
      </p:sp>
      <p:sp>
        <p:nvSpPr>
          <p:cNvPr id="9" name="Text 7"/>
          <p:cNvSpPr/>
          <p:nvPr/>
        </p:nvSpPr>
        <p:spPr>
          <a:xfrm>
            <a:off x="822960" y="2468880"/>
            <a:ext cx="2834640" cy="31089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 6-year-old typing 'something fun' produces almost no signal. We need to suggest items before the child knows what to ask for.</a:t>
            </a:r>
            <a:endParaRPr lang="en-US" sz="1300" dirty="0"/>
          </a:p>
        </p:txBody>
      </p:sp>
      <p:sp>
        <p:nvSpPr>
          <p:cNvPr id="10" name="Shape 8"/>
          <p:cNvSpPr/>
          <p:nvPr/>
        </p:nvSpPr>
        <p:spPr>
          <a:xfrm>
            <a:off x="4434840" y="1554480"/>
            <a:ext cx="3383280" cy="420624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8000"/>
              </a:srgbClr>
            </a:outerShdw>
          </a:effectLst>
        </p:spPr>
      </p:sp>
      <p:sp>
        <p:nvSpPr>
          <p:cNvPr id="11" name="Shape 9"/>
          <p:cNvSpPr/>
          <p:nvPr/>
        </p:nvSpPr>
        <p:spPr>
          <a:xfrm>
            <a:off x="4434840" y="1554480"/>
            <a:ext cx="3383280" cy="91440"/>
          </a:xfrm>
          <a:prstGeom prst="rect">
            <a:avLst/>
          </a:prstGeom>
          <a:solidFill>
            <a:srgbClr val="065A82"/>
          </a:solidFill>
          <a:ln w="12700">
            <a:solidFill>
              <a:srgbClr val="065A82"/>
            </a:solidFill>
            <a:prstDash val="solid"/>
          </a:ln>
        </p:spPr>
      </p:sp>
      <p:sp>
        <p:nvSpPr>
          <p:cNvPr id="12" name="Text 10"/>
          <p:cNvSpPr/>
          <p:nvPr/>
        </p:nvSpPr>
        <p:spPr>
          <a:xfrm>
            <a:off x="4709160" y="1828800"/>
            <a:ext cx="2834640" cy="548640"/>
          </a:xfrm>
          <a:prstGeom prst="rect">
            <a:avLst/>
          </a:prstGeom>
          <a:noFill/>
          <a:ln/>
        </p:spPr>
        <p:txBody>
          <a:bodyPr wrap="square" lIns="0" tIns="0" rIns="0" bIns="0" rtlCol="0" anchor="ctr"/>
          <a:lstStyle/>
          <a:p>
            <a:pPr indent="0" marL="0">
              <a:buNone/>
            </a:pPr>
            <a:r>
              <a:rPr lang="en-US" sz="2200" b="1" dirty="0">
                <a:solidFill>
                  <a:srgbClr val="21295C"/>
                </a:solidFill>
                <a:latin typeface="Cambria" pitchFamily="34" charset="0"/>
                <a:ea typeface="Cambria" pitchFamily="34" charset="-122"/>
                <a:cs typeface="Cambria" pitchFamily="34" charset="-120"/>
              </a:rPr>
              <a:t>Content overload</a:t>
            </a:r>
            <a:endParaRPr lang="en-US" sz="2200" dirty="0"/>
          </a:p>
        </p:txBody>
      </p:sp>
      <p:sp>
        <p:nvSpPr>
          <p:cNvPr id="13" name="Text 11"/>
          <p:cNvSpPr/>
          <p:nvPr/>
        </p:nvSpPr>
        <p:spPr>
          <a:xfrm>
            <a:off x="4709160" y="2468880"/>
            <a:ext cx="2834640" cy="31089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Open Library + Gutendex + curated catalogue exposes thousands of titles. Without ranking, the chat returns the same generic 'popular' list.</a:t>
            </a:r>
            <a:endParaRPr lang="en-US" sz="1300" dirty="0"/>
          </a:p>
        </p:txBody>
      </p:sp>
      <p:sp>
        <p:nvSpPr>
          <p:cNvPr id="14" name="Shape 12"/>
          <p:cNvSpPr/>
          <p:nvPr/>
        </p:nvSpPr>
        <p:spPr>
          <a:xfrm>
            <a:off x="8321040" y="1554480"/>
            <a:ext cx="3383280" cy="420624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8000"/>
              </a:srgbClr>
            </a:outerShdw>
          </a:effectLst>
        </p:spPr>
      </p:sp>
      <p:sp>
        <p:nvSpPr>
          <p:cNvPr id="15" name="Shape 13"/>
          <p:cNvSpPr/>
          <p:nvPr/>
        </p:nvSpPr>
        <p:spPr>
          <a:xfrm>
            <a:off x="8321040" y="1554480"/>
            <a:ext cx="3383280" cy="91440"/>
          </a:xfrm>
          <a:prstGeom prst="rect">
            <a:avLst/>
          </a:prstGeom>
          <a:solidFill>
            <a:srgbClr val="065A82"/>
          </a:solidFill>
          <a:ln w="12700">
            <a:solidFill>
              <a:srgbClr val="065A82"/>
            </a:solidFill>
            <a:prstDash val="solid"/>
          </a:ln>
        </p:spPr>
      </p:sp>
      <p:sp>
        <p:nvSpPr>
          <p:cNvPr id="16" name="Text 14"/>
          <p:cNvSpPr/>
          <p:nvPr/>
        </p:nvSpPr>
        <p:spPr>
          <a:xfrm>
            <a:off x="8595360" y="1828800"/>
            <a:ext cx="2834640" cy="548640"/>
          </a:xfrm>
          <a:prstGeom prst="rect">
            <a:avLst/>
          </a:prstGeom>
          <a:noFill/>
          <a:ln/>
        </p:spPr>
        <p:txBody>
          <a:bodyPr wrap="square" lIns="0" tIns="0" rIns="0" bIns="0" rtlCol="0" anchor="ctr"/>
          <a:lstStyle/>
          <a:p>
            <a:pPr indent="0" marL="0">
              <a:buNone/>
            </a:pPr>
            <a:r>
              <a:rPr lang="en-US" sz="2200" b="1" dirty="0">
                <a:solidFill>
                  <a:srgbClr val="21295C"/>
                </a:solidFill>
                <a:latin typeface="Cambria" pitchFamily="34" charset="0"/>
                <a:ea typeface="Cambria" pitchFamily="34" charset="-122"/>
                <a:cs typeface="Cambria" pitchFamily="34" charset="-120"/>
              </a:rPr>
              <a:t>Safety first</a:t>
            </a:r>
            <a:endParaRPr lang="en-US" sz="2200" dirty="0"/>
          </a:p>
        </p:txBody>
      </p:sp>
      <p:sp>
        <p:nvSpPr>
          <p:cNvPr id="17" name="Text 15"/>
          <p:cNvSpPr/>
          <p:nvPr/>
        </p:nvSpPr>
        <p:spPr>
          <a:xfrm>
            <a:off x="8595360" y="2468880"/>
            <a:ext cx="2834640" cy="31089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Every recommendation must be age-appropriate and kid-safe. Filtering must happen before scoring, not after — wrong content can never be visible.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65A82"/>
          </a:solidFill>
          <a:ln w="12700">
            <a:solidFill>
              <a:srgbClr val="065A82"/>
            </a:solidFill>
            <a:prstDash val="solid"/>
          </a:ln>
        </p:spPr>
      </p:sp>
      <p:sp>
        <p:nvSpPr>
          <p:cNvPr id="3" name="Text 1"/>
          <p:cNvSpPr/>
          <p:nvPr/>
        </p:nvSpPr>
        <p:spPr>
          <a:xfrm>
            <a:off x="457200" y="320040"/>
            <a:ext cx="11430000" cy="59436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Choosing the Right Approach</a:t>
            </a:r>
            <a:endParaRPr lang="en-US" sz="3200" dirty="0"/>
          </a:p>
        </p:txBody>
      </p:sp>
      <p:sp>
        <p:nvSpPr>
          <p:cNvPr id="4" name="Text 2"/>
          <p:cNvSpPr/>
          <p:nvPr/>
        </p:nvSpPr>
        <p:spPr>
          <a:xfrm>
            <a:off x="457200" y="914400"/>
            <a:ext cx="11430000" cy="36576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Hybrid CF vs alternatives</a:t>
            </a:r>
            <a:endParaRPr lang="en-US" sz="1400" dirty="0"/>
          </a:p>
        </p:txBody>
      </p:sp>
      <p:sp>
        <p:nvSpPr>
          <p:cNvPr id="5" name="Text 3"/>
          <p:cNvSpPr/>
          <p:nvPr/>
        </p:nvSpPr>
        <p:spPr>
          <a:xfrm>
            <a:off x="457200" y="6492240"/>
            <a:ext cx="548640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Little Dino · FYP26S123</a:t>
            </a:r>
            <a:endParaRPr lang="en-US" sz="900" dirty="0"/>
          </a:p>
        </p:txBody>
      </p:sp>
      <p:sp>
        <p:nvSpPr>
          <p:cNvPr id="6" name="Shape 4"/>
          <p:cNvSpPr/>
          <p:nvPr/>
        </p:nvSpPr>
        <p:spPr>
          <a:xfrm>
            <a:off x="548640" y="1508760"/>
            <a:ext cx="3383280" cy="4434840"/>
          </a:xfrm>
          <a:prstGeom prst="rect">
            <a:avLst/>
          </a:prstGeom>
          <a:solidFill>
            <a:srgbClr val="FFFFFF"/>
          </a:solidFill>
          <a:ln w="12700">
            <a:solidFill>
              <a:srgbClr val="E2E8F0"/>
            </a:solidFill>
            <a:prstDash val="solid"/>
          </a:ln>
          <a:effectLst>
            <a:outerShdw sx="100000" sy="100000" kx="0" ky="0" algn="bl" rotWithShape="0" blurRad="127000" dist="38100" dir="5400000">
              <a:srgbClr val="000000">
                <a:alpha val="6000"/>
              </a:srgbClr>
            </a:outerShdw>
          </a:effectLst>
        </p:spPr>
      </p:sp>
      <p:sp>
        <p:nvSpPr>
          <p:cNvPr id="7" name="Text 5"/>
          <p:cNvSpPr/>
          <p:nvPr/>
        </p:nvSpPr>
        <p:spPr>
          <a:xfrm>
            <a:off x="822960" y="1691640"/>
            <a:ext cx="2834640" cy="548640"/>
          </a:xfrm>
          <a:prstGeom prst="rect">
            <a:avLst/>
          </a:prstGeom>
          <a:noFill/>
          <a:ln/>
        </p:spPr>
        <p:txBody>
          <a:bodyPr wrap="square" lIns="0" tIns="0" rIns="0" bIns="0" rtlCol="0" anchor="ctr"/>
          <a:lstStyle/>
          <a:p>
            <a:pPr indent="0" marL="0">
              <a:buNone/>
            </a:pPr>
            <a:r>
              <a:rPr lang="en-US" sz="2000" b="1" dirty="0">
                <a:solidFill>
                  <a:srgbClr val="21295C"/>
                </a:solidFill>
                <a:latin typeface="Cambria" pitchFamily="34" charset="0"/>
                <a:ea typeface="Cambria" pitchFamily="34" charset="-122"/>
                <a:cs typeface="Cambria" pitchFamily="34" charset="-120"/>
              </a:rPr>
              <a:t>Content-Based</a:t>
            </a:r>
            <a:endParaRPr lang="en-US" sz="2000" dirty="0"/>
          </a:p>
        </p:txBody>
      </p:sp>
      <p:sp>
        <p:nvSpPr>
          <p:cNvPr id="8" name="Text 6"/>
          <p:cNvSpPr/>
          <p:nvPr/>
        </p:nvSpPr>
        <p:spPr>
          <a:xfrm>
            <a:off x="822960" y="2606040"/>
            <a:ext cx="2834640" cy="32004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Pros</a:t>
            </a:r>
            <a:endParaRPr lang="en-US" sz="1200" dirty="0"/>
          </a:p>
        </p:txBody>
      </p:sp>
      <p:sp>
        <p:nvSpPr>
          <p:cNvPr id="9" name="Text 7"/>
          <p:cNvSpPr/>
          <p:nvPr/>
        </p:nvSpPr>
        <p:spPr>
          <a:xfrm>
            <a:off x="822960" y="2926080"/>
            <a:ext cx="2834640" cy="128016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Uses item metadata (tags, age, category). Works on day one with no users.</a:t>
            </a:r>
            <a:endParaRPr lang="en-US" sz="1200" dirty="0"/>
          </a:p>
        </p:txBody>
      </p:sp>
      <p:sp>
        <p:nvSpPr>
          <p:cNvPr id="10" name="Text 8"/>
          <p:cNvSpPr/>
          <p:nvPr/>
        </p:nvSpPr>
        <p:spPr>
          <a:xfrm>
            <a:off x="822960" y="4251960"/>
            <a:ext cx="2834640" cy="320040"/>
          </a:xfrm>
          <a:prstGeom prst="rect">
            <a:avLst/>
          </a:prstGeom>
          <a:noFill/>
          <a:ln/>
        </p:spPr>
        <p:txBody>
          <a:bodyPr wrap="square" lIns="0" tIns="0" rIns="0" bIns="0" rtlCol="0" anchor="ctr"/>
          <a:lstStyle/>
          <a:p>
            <a:pPr indent="0" marL="0">
              <a:buNone/>
            </a:pPr>
            <a:r>
              <a:rPr lang="en-US" sz="1200" b="1" dirty="0">
                <a:solidFill>
                  <a:srgbClr val="EF4444"/>
                </a:solidFill>
                <a:latin typeface="Calibri" pitchFamily="34" charset="0"/>
                <a:ea typeface="Calibri" pitchFamily="34" charset="-122"/>
                <a:cs typeface="Calibri" pitchFamily="34" charset="-120"/>
              </a:rPr>
              <a:t>Cons</a:t>
            </a:r>
            <a:endParaRPr lang="en-US" sz="1200" dirty="0"/>
          </a:p>
        </p:txBody>
      </p:sp>
      <p:sp>
        <p:nvSpPr>
          <p:cNvPr id="11" name="Text 9"/>
          <p:cNvSpPr/>
          <p:nvPr/>
        </p:nvSpPr>
        <p:spPr>
          <a:xfrm>
            <a:off x="822960" y="4572000"/>
            <a:ext cx="2834640" cy="128016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Tunnel vision — only recommends items similar to what the child already saw. No serendipity.</a:t>
            </a:r>
            <a:endParaRPr lang="en-US" sz="1200" dirty="0"/>
          </a:p>
        </p:txBody>
      </p:sp>
      <p:sp>
        <p:nvSpPr>
          <p:cNvPr id="12" name="Shape 10"/>
          <p:cNvSpPr/>
          <p:nvPr/>
        </p:nvSpPr>
        <p:spPr>
          <a:xfrm>
            <a:off x="4434840" y="1508760"/>
            <a:ext cx="3383280" cy="4434840"/>
          </a:xfrm>
          <a:prstGeom prst="rect">
            <a:avLst/>
          </a:prstGeom>
          <a:solidFill>
            <a:srgbClr val="FFFFFF"/>
          </a:solidFill>
          <a:ln w="12700">
            <a:solidFill>
              <a:srgbClr val="E2E8F0"/>
            </a:solidFill>
            <a:prstDash val="solid"/>
          </a:ln>
          <a:effectLst>
            <a:outerShdw sx="100000" sy="100000" kx="0" ky="0" algn="bl" rotWithShape="0" blurRad="127000" dist="38100" dir="5400000">
              <a:srgbClr val="000000">
                <a:alpha val="6000"/>
              </a:srgbClr>
            </a:outerShdw>
          </a:effectLst>
        </p:spPr>
      </p:sp>
      <p:sp>
        <p:nvSpPr>
          <p:cNvPr id="13" name="Text 11"/>
          <p:cNvSpPr/>
          <p:nvPr/>
        </p:nvSpPr>
        <p:spPr>
          <a:xfrm>
            <a:off x="4709160" y="1691640"/>
            <a:ext cx="2834640" cy="548640"/>
          </a:xfrm>
          <a:prstGeom prst="rect">
            <a:avLst/>
          </a:prstGeom>
          <a:noFill/>
          <a:ln/>
        </p:spPr>
        <p:txBody>
          <a:bodyPr wrap="square" lIns="0" tIns="0" rIns="0" bIns="0" rtlCol="0" anchor="ctr"/>
          <a:lstStyle/>
          <a:p>
            <a:pPr indent="0" marL="0">
              <a:buNone/>
            </a:pPr>
            <a:r>
              <a:rPr lang="en-US" sz="2000" b="1" dirty="0">
                <a:solidFill>
                  <a:srgbClr val="21295C"/>
                </a:solidFill>
                <a:latin typeface="Cambria" pitchFamily="34" charset="0"/>
                <a:ea typeface="Cambria" pitchFamily="34" charset="-122"/>
                <a:cs typeface="Cambria" pitchFamily="34" charset="-120"/>
              </a:rPr>
              <a:t>User-Based CF</a:t>
            </a:r>
            <a:endParaRPr lang="en-US" sz="2000" dirty="0"/>
          </a:p>
        </p:txBody>
      </p:sp>
      <p:sp>
        <p:nvSpPr>
          <p:cNvPr id="14" name="Text 12"/>
          <p:cNvSpPr/>
          <p:nvPr/>
        </p:nvSpPr>
        <p:spPr>
          <a:xfrm>
            <a:off x="4709160" y="2606040"/>
            <a:ext cx="2834640" cy="32004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Pros</a:t>
            </a:r>
            <a:endParaRPr lang="en-US" sz="1200" dirty="0"/>
          </a:p>
        </p:txBody>
      </p:sp>
      <p:sp>
        <p:nvSpPr>
          <p:cNvPr id="15" name="Text 13"/>
          <p:cNvSpPr/>
          <p:nvPr/>
        </p:nvSpPr>
        <p:spPr>
          <a:xfrm>
            <a:off x="4709160" y="2926080"/>
            <a:ext cx="2834640" cy="128016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Surfaces items popular among similar children — strong serendipity signal.</a:t>
            </a:r>
            <a:endParaRPr lang="en-US" sz="1200" dirty="0"/>
          </a:p>
        </p:txBody>
      </p:sp>
      <p:sp>
        <p:nvSpPr>
          <p:cNvPr id="16" name="Text 14"/>
          <p:cNvSpPr/>
          <p:nvPr/>
        </p:nvSpPr>
        <p:spPr>
          <a:xfrm>
            <a:off x="4709160" y="4251960"/>
            <a:ext cx="2834640" cy="320040"/>
          </a:xfrm>
          <a:prstGeom prst="rect">
            <a:avLst/>
          </a:prstGeom>
          <a:noFill/>
          <a:ln/>
        </p:spPr>
        <p:txBody>
          <a:bodyPr wrap="square" lIns="0" tIns="0" rIns="0" bIns="0" rtlCol="0" anchor="ctr"/>
          <a:lstStyle/>
          <a:p>
            <a:pPr indent="0" marL="0">
              <a:buNone/>
            </a:pPr>
            <a:r>
              <a:rPr lang="en-US" sz="1200" b="1" dirty="0">
                <a:solidFill>
                  <a:srgbClr val="EF4444"/>
                </a:solidFill>
                <a:latin typeface="Calibri" pitchFamily="34" charset="0"/>
                <a:ea typeface="Calibri" pitchFamily="34" charset="-122"/>
                <a:cs typeface="Calibri" pitchFamily="34" charset="-120"/>
              </a:rPr>
              <a:t>Cons</a:t>
            </a:r>
            <a:endParaRPr lang="en-US" sz="1200" dirty="0"/>
          </a:p>
        </p:txBody>
      </p:sp>
      <p:sp>
        <p:nvSpPr>
          <p:cNvPr id="17" name="Text 15"/>
          <p:cNvSpPr/>
          <p:nvPr/>
        </p:nvSpPr>
        <p:spPr>
          <a:xfrm>
            <a:off x="4709160" y="4572000"/>
            <a:ext cx="2834640" cy="128016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Needs a user community. Falls apart on Day 1. Vulnerable to noisy users.</a:t>
            </a:r>
            <a:endParaRPr lang="en-US" sz="1200" dirty="0"/>
          </a:p>
        </p:txBody>
      </p:sp>
      <p:sp>
        <p:nvSpPr>
          <p:cNvPr id="18" name="Shape 16"/>
          <p:cNvSpPr/>
          <p:nvPr/>
        </p:nvSpPr>
        <p:spPr>
          <a:xfrm>
            <a:off x="8321040" y="1508760"/>
            <a:ext cx="3383280" cy="4434840"/>
          </a:xfrm>
          <a:prstGeom prst="rect">
            <a:avLst/>
          </a:prstGeom>
          <a:solidFill>
            <a:srgbClr val="065A82"/>
          </a:solidFill>
          <a:ln w="12700">
            <a:solidFill>
              <a:srgbClr val="065A82"/>
            </a:solidFill>
            <a:prstDash val="solid"/>
          </a:ln>
          <a:effectLst>
            <a:outerShdw sx="100000" sy="100000" kx="0" ky="0" algn="bl" rotWithShape="0" blurRad="127000" dist="38100" dir="5400000">
              <a:srgbClr val="000000">
                <a:alpha val="18000"/>
              </a:srgbClr>
            </a:outerShdw>
          </a:effectLst>
        </p:spPr>
      </p:sp>
      <p:sp>
        <p:nvSpPr>
          <p:cNvPr id="19" name="Text 17"/>
          <p:cNvSpPr/>
          <p:nvPr/>
        </p:nvSpPr>
        <p:spPr>
          <a:xfrm>
            <a:off x="8595360" y="1691640"/>
            <a:ext cx="2834640" cy="54864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Hybrid CF (chosen)</a:t>
            </a:r>
            <a:endParaRPr lang="en-US" sz="2000" dirty="0"/>
          </a:p>
        </p:txBody>
      </p:sp>
      <p:sp>
        <p:nvSpPr>
          <p:cNvPr id="20" name="Text 18"/>
          <p:cNvSpPr/>
          <p:nvPr/>
        </p:nvSpPr>
        <p:spPr>
          <a:xfrm>
            <a:off x="8595360" y="2240280"/>
            <a:ext cx="2834640" cy="274320"/>
          </a:xfrm>
          <a:prstGeom prst="rect">
            <a:avLst/>
          </a:prstGeom>
          <a:noFill/>
          <a:ln/>
        </p:spPr>
        <p:txBody>
          <a:bodyPr wrap="square" lIns="0" tIns="0" rIns="0" bIns="0" rtlCol="0" anchor="ctr"/>
          <a:lstStyle/>
          <a:p>
            <a:pPr indent="0" marL="0">
              <a:buNone/>
            </a:pPr>
            <a:r>
              <a:rPr lang="en-US" sz="1100" b="1" spc="400" kern="0" dirty="0">
                <a:solidFill>
                  <a:srgbClr val="F9E795"/>
                </a:solidFill>
                <a:latin typeface="Calibri" pitchFamily="34" charset="0"/>
                <a:ea typeface="Calibri" pitchFamily="34" charset="-122"/>
                <a:cs typeface="Calibri" pitchFamily="34" charset="-120"/>
              </a:rPr>
              <a:t>CHOSEN</a:t>
            </a:r>
            <a:endParaRPr lang="en-US" sz="1100" dirty="0"/>
          </a:p>
        </p:txBody>
      </p:sp>
      <p:sp>
        <p:nvSpPr>
          <p:cNvPr id="21" name="Text 19"/>
          <p:cNvSpPr/>
          <p:nvPr/>
        </p:nvSpPr>
        <p:spPr>
          <a:xfrm>
            <a:off x="8595360" y="2606040"/>
            <a:ext cx="2834640" cy="320040"/>
          </a:xfrm>
          <a:prstGeom prst="rect">
            <a:avLst/>
          </a:prstGeom>
          <a:noFill/>
          <a:ln/>
        </p:spPr>
        <p:txBody>
          <a:bodyPr wrap="square" lIns="0" tIns="0" rIns="0" bIns="0" rtlCol="0" anchor="ctr"/>
          <a:lstStyle/>
          <a:p>
            <a:pPr indent="0" marL="0">
              <a:buNone/>
            </a:pPr>
            <a:r>
              <a:rPr lang="en-US" sz="1200" b="1" dirty="0">
                <a:solidFill>
                  <a:srgbClr val="9DECFF"/>
                </a:solidFill>
                <a:latin typeface="Calibri" pitchFamily="34" charset="0"/>
                <a:ea typeface="Calibri" pitchFamily="34" charset="-122"/>
                <a:cs typeface="Calibri" pitchFamily="34" charset="-120"/>
              </a:rPr>
              <a:t>Pros</a:t>
            </a:r>
            <a:endParaRPr lang="en-US" sz="1200" dirty="0"/>
          </a:p>
        </p:txBody>
      </p:sp>
      <p:sp>
        <p:nvSpPr>
          <p:cNvPr id="22" name="Text 20"/>
          <p:cNvSpPr/>
          <p:nvPr/>
        </p:nvSpPr>
        <p:spPr>
          <a:xfrm>
            <a:off x="8595360" y="2926080"/>
            <a:ext cx="2834640" cy="128016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Combines user-based + item-based CF with cosine similarity, weighted 50/50.</a:t>
            </a:r>
            <a:endParaRPr lang="en-US" sz="1200" dirty="0"/>
          </a:p>
        </p:txBody>
      </p:sp>
      <p:sp>
        <p:nvSpPr>
          <p:cNvPr id="23" name="Text 21"/>
          <p:cNvSpPr/>
          <p:nvPr/>
        </p:nvSpPr>
        <p:spPr>
          <a:xfrm>
            <a:off x="8595360" y="4251960"/>
            <a:ext cx="2834640" cy="320040"/>
          </a:xfrm>
          <a:prstGeom prst="rect">
            <a:avLst/>
          </a:prstGeom>
          <a:noFill/>
          <a:ln/>
        </p:spPr>
        <p:txBody>
          <a:bodyPr wrap="square" lIns="0" tIns="0" rIns="0" bIns="0" rtlCol="0" anchor="ctr"/>
          <a:lstStyle/>
          <a:p>
            <a:pPr indent="0" marL="0">
              <a:buNone/>
            </a:pPr>
            <a:r>
              <a:rPr lang="en-US" sz="1200" b="1" dirty="0">
                <a:solidFill>
                  <a:srgbClr val="FCB9B9"/>
                </a:solidFill>
                <a:latin typeface="Calibri" pitchFamily="34" charset="0"/>
                <a:ea typeface="Calibri" pitchFamily="34" charset="-122"/>
                <a:cs typeface="Calibri" pitchFamily="34" charset="-120"/>
              </a:rPr>
              <a:t>Cons</a:t>
            </a:r>
            <a:endParaRPr lang="en-US" sz="1200" dirty="0"/>
          </a:p>
        </p:txBody>
      </p:sp>
      <p:sp>
        <p:nvSpPr>
          <p:cNvPr id="24" name="Text 22"/>
          <p:cNvSpPr/>
          <p:nvPr/>
        </p:nvSpPr>
        <p:spPr>
          <a:xfrm>
            <a:off x="8595360" y="4572000"/>
            <a:ext cx="2834640" cy="128016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Slightly more compute; both algorithms run per request. Mitigated by filtering and limits.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65A82"/>
          </a:solidFill>
          <a:ln w="12700">
            <a:solidFill>
              <a:srgbClr val="065A82"/>
            </a:solidFill>
            <a:prstDash val="solid"/>
          </a:ln>
        </p:spPr>
      </p:sp>
      <p:sp>
        <p:nvSpPr>
          <p:cNvPr id="3" name="Text 1"/>
          <p:cNvSpPr/>
          <p:nvPr/>
        </p:nvSpPr>
        <p:spPr>
          <a:xfrm>
            <a:off x="457200" y="320040"/>
            <a:ext cx="11430000" cy="59436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Where CF Sits in the App</a:t>
            </a:r>
            <a:endParaRPr lang="en-US" sz="3200" dirty="0"/>
          </a:p>
        </p:txBody>
      </p:sp>
      <p:sp>
        <p:nvSpPr>
          <p:cNvPr id="4" name="Text 2"/>
          <p:cNvSpPr/>
          <p:nvPr/>
        </p:nvSpPr>
        <p:spPr>
          <a:xfrm>
            <a:off x="457200" y="914400"/>
            <a:ext cx="11430000" cy="36576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Data flow from interactions to UI</a:t>
            </a:r>
            <a:endParaRPr lang="en-US" sz="1400" dirty="0"/>
          </a:p>
        </p:txBody>
      </p:sp>
      <p:sp>
        <p:nvSpPr>
          <p:cNvPr id="5" name="Text 3"/>
          <p:cNvSpPr/>
          <p:nvPr/>
        </p:nvSpPr>
        <p:spPr>
          <a:xfrm>
            <a:off x="457200" y="6492240"/>
            <a:ext cx="548640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Little Dino · FYP26S123</a:t>
            </a:r>
            <a:endParaRPr lang="en-US" sz="900" dirty="0"/>
          </a:p>
        </p:txBody>
      </p:sp>
      <p:sp>
        <p:nvSpPr>
          <p:cNvPr id="6" name="Shape 4"/>
          <p:cNvSpPr/>
          <p:nvPr/>
        </p:nvSpPr>
        <p:spPr>
          <a:xfrm>
            <a:off x="640080" y="1828800"/>
            <a:ext cx="2103120" cy="914400"/>
          </a:xfrm>
          <a:prstGeom prst="rect">
            <a:avLst/>
          </a:prstGeom>
          <a:solidFill>
            <a:srgbClr val="1C7293"/>
          </a:solidFill>
          <a:ln w="12700">
            <a:solidFill>
              <a:srgbClr val="1C7293"/>
            </a:solidFill>
            <a:prstDash val="solid"/>
          </a:ln>
          <a:effectLst>
            <a:outerShdw sx="100000" sy="100000" kx="0" ky="0" algn="bl" rotWithShape="0" blurRad="76200" dist="25400" dir="5400000">
              <a:srgbClr val="000000">
                <a:alpha val="10000"/>
              </a:srgbClr>
            </a:outerShdw>
          </a:effectLst>
        </p:spPr>
      </p:sp>
      <p:sp>
        <p:nvSpPr>
          <p:cNvPr id="7" name="Text 5"/>
          <p:cNvSpPr/>
          <p:nvPr/>
        </p:nvSpPr>
        <p:spPr>
          <a:xfrm>
            <a:off x="777240" y="1920240"/>
            <a:ext cx="18288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User Actions</a:t>
            </a:r>
            <a:endParaRPr lang="en-US" sz="1200" dirty="0"/>
          </a:p>
        </p:txBody>
      </p:sp>
      <p:sp>
        <p:nvSpPr>
          <p:cNvPr id="8" name="Text 6"/>
          <p:cNvSpPr/>
          <p:nvPr/>
        </p:nvSpPr>
        <p:spPr>
          <a:xfrm>
            <a:off x="777240" y="2286000"/>
            <a:ext cx="1828800" cy="411480"/>
          </a:xfrm>
          <a:prstGeom prst="rect">
            <a:avLst/>
          </a:prstGeom>
          <a:noFill/>
          <a:ln/>
        </p:spPr>
        <p:txBody>
          <a:bodyPr wrap="square" lIns="0" tIns="0" rIns="0" bIns="0" rtlCol="0" anchor="t"/>
          <a:lstStyle/>
          <a:p>
            <a:pPr algn="ctr" indent="0" marL="0">
              <a:buNone/>
            </a:pPr>
            <a:r>
              <a:rPr lang="en-US" sz="1000" dirty="0">
                <a:solidFill>
                  <a:srgbClr val="DBEAFE"/>
                </a:solidFill>
                <a:latin typeface="Calibri" pitchFamily="34" charset="0"/>
                <a:ea typeface="Calibri" pitchFamily="34" charset="-122"/>
                <a:cs typeface="Calibri" pitchFamily="34" charset="-120"/>
              </a:rPr>
              <a:t>favorite · read · watch</a:t>
            </a:r>
            <a:endParaRPr lang="en-US" sz="1000" dirty="0"/>
          </a:p>
        </p:txBody>
      </p:sp>
      <p:sp>
        <p:nvSpPr>
          <p:cNvPr id="9" name="Shape 7"/>
          <p:cNvSpPr/>
          <p:nvPr/>
        </p:nvSpPr>
        <p:spPr>
          <a:xfrm>
            <a:off x="640080" y="3108960"/>
            <a:ext cx="2103120" cy="914400"/>
          </a:xfrm>
          <a:prstGeom prst="rect">
            <a:avLst/>
          </a:prstGeom>
          <a:solidFill>
            <a:srgbClr val="FFFFFF"/>
          </a:solidFill>
          <a:ln w="12700">
            <a:solidFill>
              <a:srgbClr val="CBD5E1"/>
            </a:solidFill>
            <a:prstDash val="solid"/>
          </a:ln>
          <a:effectLst>
            <a:outerShdw sx="100000" sy="100000" kx="0" ky="0" algn="bl" rotWithShape="0" blurRad="76200" dist="25400" dir="5400000">
              <a:srgbClr val="000000">
                <a:alpha val="10000"/>
              </a:srgbClr>
            </a:outerShdw>
          </a:effectLst>
        </p:spPr>
      </p:sp>
      <p:sp>
        <p:nvSpPr>
          <p:cNvPr id="10" name="Text 8"/>
          <p:cNvSpPr/>
          <p:nvPr/>
        </p:nvSpPr>
        <p:spPr>
          <a:xfrm>
            <a:off x="777240" y="3200400"/>
            <a:ext cx="1828800" cy="365760"/>
          </a:xfrm>
          <a:prstGeom prst="rect">
            <a:avLst/>
          </a:prstGeom>
          <a:noFill/>
          <a:ln/>
        </p:spPr>
        <p:txBody>
          <a:bodyPr wrap="square" lIns="0" tIns="0" rIns="0" bIns="0" rtlCol="0" anchor="ctr"/>
          <a:lstStyle/>
          <a:p>
            <a:pPr algn="ctr" indent="0" marL="0">
              <a:buNone/>
            </a:pPr>
            <a:r>
              <a:rPr lang="en-US" sz="1200" b="1" dirty="0">
                <a:solidFill>
                  <a:srgbClr val="21295C"/>
                </a:solidFill>
                <a:latin typeface="Calibri" pitchFamily="34" charset="0"/>
                <a:ea typeface="Calibri" pitchFamily="34" charset="-122"/>
                <a:cs typeface="Calibri" pitchFamily="34" charset="-120"/>
              </a:rPr>
              <a:t>Firestore</a:t>
            </a:r>
            <a:endParaRPr lang="en-US" sz="1200" dirty="0"/>
          </a:p>
        </p:txBody>
      </p:sp>
      <p:sp>
        <p:nvSpPr>
          <p:cNvPr id="11" name="Text 9"/>
          <p:cNvSpPr/>
          <p:nvPr/>
        </p:nvSpPr>
        <p:spPr>
          <a:xfrm>
            <a:off x="777240" y="3566160"/>
            <a:ext cx="1828800" cy="411480"/>
          </a:xfrm>
          <a:prstGeom prst="rect">
            <a:avLst/>
          </a:prstGeom>
          <a:noFill/>
          <a:ln/>
        </p:spPr>
        <p:txBody>
          <a:bodyPr wrap="square" lIns="0" tIns="0" rIns="0" bIns="0" rtlCol="0" anchor="t"/>
          <a:lstStyle/>
          <a:p>
            <a:pPr algn="ctr" indent="0" marL="0">
              <a:buNone/>
            </a:pPr>
            <a:r>
              <a:rPr lang="en-US" sz="1000" dirty="0">
                <a:solidFill>
                  <a:srgbClr val="64748B"/>
                </a:solidFill>
                <a:latin typeface="Consolas" pitchFamily="34" charset="0"/>
                <a:ea typeface="Consolas" pitchFamily="34" charset="-122"/>
                <a:cs typeface="Consolas" pitchFamily="34" charset="-120"/>
              </a:rPr>
              <a:t>favorites/{u}/items</a:t>
            </a:r>
            <a:endParaRPr lang="en-US" sz="1000" dirty="0"/>
          </a:p>
          <a:p>
            <a:pPr algn="ctr" indent="0" marL="0">
              <a:buNone/>
            </a:pPr>
            <a:r>
              <a:rPr lang="en-US" sz="1000" dirty="0">
                <a:solidFill>
                  <a:srgbClr val="64748B"/>
                </a:solidFill>
                <a:latin typeface="Consolas" pitchFamily="34" charset="0"/>
                <a:ea typeface="Consolas" pitchFamily="34" charset="-122"/>
                <a:cs typeface="Consolas" pitchFamily="34" charset="-120"/>
              </a:rPr>
              <a:t>readingHistory/{u}/items</a:t>
            </a:r>
            <a:endParaRPr lang="en-US" sz="1000" dirty="0"/>
          </a:p>
        </p:txBody>
      </p:sp>
      <p:sp>
        <p:nvSpPr>
          <p:cNvPr id="12" name="Shape 10"/>
          <p:cNvSpPr/>
          <p:nvPr/>
        </p:nvSpPr>
        <p:spPr>
          <a:xfrm>
            <a:off x="3657600" y="2468880"/>
            <a:ext cx="2926080" cy="1554480"/>
          </a:xfrm>
          <a:prstGeom prst="rect">
            <a:avLst/>
          </a:prstGeom>
          <a:solidFill>
            <a:srgbClr val="065A82"/>
          </a:solidFill>
          <a:ln w="12700">
            <a:solidFill>
              <a:srgbClr val="065A82"/>
            </a:solidFill>
            <a:prstDash val="solid"/>
          </a:ln>
          <a:effectLst>
            <a:outerShdw sx="100000" sy="100000" kx="0" ky="0" algn="bl" rotWithShape="0" blurRad="76200" dist="25400" dir="5400000">
              <a:srgbClr val="000000">
                <a:alpha val="10000"/>
              </a:srgbClr>
            </a:outerShdw>
          </a:effectLst>
        </p:spPr>
      </p:sp>
      <p:sp>
        <p:nvSpPr>
          <p:cNvPr id="13" name="Text 11"/>
          <p:cNvSpPr/>
          <p:nvPr/>
        </p:nvSpPr>
        <p:spPr>
          <a:xfrm>
            <a:off x="3794760" y="2560320"/>
            <a:ext cx="2651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CollaborativeFilteringService</a:t>
            </a:r>
            <a:endParaRPr lang="en-US" sz="1200" dirty="0"/>
          </a:p>
        </p:txBody>
      </p:sp>
      <p:sp>
        <p:nvSpPr>
          <p:cNvPr id="14" name="Text 12"/>
          <p:cNvSpPr/>
          <p:nvPr/>
        </p:nvSpPr>
        <p:spPr>
          <a:xfrm>
            <a:off x="3794760" y="2926080"/>
            <a:ext cx="2651760" cy="1051560"/>
          </a:xfrm>
          <a:prstGeom prst="rect">
            <a:avLst/>
          </a:prstGeom>
          <a:noFill/>
          <a:ln/>
        </p:spPr>
        <p:txBody>
          <a:bodyPr wrap="square" lIns="0" tIns="0" rIns="0" bIns="0" rtlCol="0" anchor="t"/>
          <a:lstStyle/>
          <a:p>
            <a:pPr algn="ctr" indent="0" marL="0">
              <a:buNone/>
            </a:pPr>
            <a:r>
              <a:rPr lang="en-US" sz="1000" dirty="0">
                <a:solidFill>
                  <a:srgbClr val="DBEAFE"/>
                </a:solidFill>
                <a:latin typeface="Calibri" pitchFamily="34" charset="0"/>
                <a:ea typeface="Calibri" pitchFamily="34" charset="-122"/>
                <a:cs typeface="Calibri" pitchFamily="34" charset="-120"/>
              </a:rPr>
              <a:t>loadAllInteractions()</a:t>
            </a:r>
            <a:endParaRPr lang="en-US" sz="1000" dirty="0"/>
          </a:p>
          <a:p>
            <a:pPr algn="ctr" indent="0" marL="0">
              <a:buNone/>
            </a:pPr>
            <a:r>
              <a:rPr lang="en-US" sz="1000" dirty="0">
                <a:solidFill>
                  <a:srgbClr val="DBEAFE"/>
                </a:solidFill>
                <a:latin typeface="Calibri" pitchFamily="34" charset="0"/>
                <a:ea typeface="Calibri" pitchFamily="34" charset="-122"/>
                <a:cs typeface="Calibri" pitchFamily="34" charset="-120"/>
              </a:rPr>
              <a:t>buildUserItemMatrix()</a:t>
            </a:r>
            <a:endParaRPr lang="en-US" sz="1000" dirty="0"/>
          </a:p>
          <a:p>
            <a:pPr algn="ctr" indent="0" marL="0">
              <a:buNone/>
            </a:pPr>
            <a:r>
              <a:rPr lang="en-US" sz="1000" dirty="0">
                <a:solidFill>
                  <a:srgbClr val="DBEAFE"/>
                </a:solidFill>
                <a:latin typeface="Calibri" pitchFamily="34" charset="0"/>
                <a:ea typeface="Calibri" pitchFamily="34" charset="-122"/>
                <a:cs typeface="Calibri" pitchFamily="34" charset="-120"/>
              </a:rPr>
              <a:t>UserBased + ItemBased</a:t>
            </a:r>
            <a:endParaRPr lang="en-US" sz="1000" dirty="0"/>
          </a:p>
          <a:p>
            <a:pPr algn="ctr" indent="0" marL="0">
              <a:buNone/>
            </a:pPr>
            <a:r>
              <a:rPr lang="en-US" sz="1000" dirty="0">
                <a:solidFill>
                  <a:srgbClr val="DBEAFE"/>
                </a:solidFill>
                <a:latin typeface="Calibri" pitchFamily="34" charset="0"/>
                <a:ea typeface="Calibri" pitchFamily="34" charset="-122"/>
                <a:cs typeface="Calibri" pitchFamily="34" charset="-120"/>
              </a:rPr>
              <a:t>Hybrid blend (0.5/0.5)</a:t>
            </a:r>
            <a:endParaRPr lang="en-US" sz="1000" dirty="0"/>
          </a:p>
        </p:txBody>
      </p:sp>
      <p:sp>
        <p:nvSpPr>
          <p:cNvPr id="15" name="Shape 13"/>
          <p:cNvSpPr/>
          <p:nvPr/>
        </p:nvSpPr>
        <p:spPr>
          <a:xfrm>
            <a:off x="7680960" y="1828800"/>
            <a:ext cx="2103120" cy="914400"/>
          </a:xfrm>
          <a:prstGeom prst="rect">
            <a:avLst/>
          </a:prstGeom>
          <a:solidFill>
            <a:srgbClr val="FFFFFF"/>
          </a:solidFill>
          <a:ln w="12700">
            <a:solidFill>
              <a:srgbClr val="CBD5E1"/>
            </a:solidFill>
            <a:prstDash val="solid"/>
          </a:ln>
          <a:effectLst>
            <a:outerShdw sx="100000" sy="100000" kx="0" ky="0" algn="bl" rotWithShape="0" blurRad="76200" dist="25400" dir="5400000">
              <a:srgbClr val="000000">
                <a:alpha val="10000"/>
              </a:srgbClr>
            </a:outerShdw>
          </a:effectLst>
        </p:spPr>
      </p:sp>
      <p:sp>
        <p:nvSpPr>
          <p:cNvPr id="16" name="Text 14"/>
          <p:cNvSpPr/>
          <p:nvPr/>
        </p:nvSpPr>
        <p:spPr>
          <a:xfrm>
            <a:off x="7818120" y="1920240"/>
            <a:ext cx="1828800" cy="365760"/>
          </a:xfrm>
          <a:prstGeom prst="rect">
            <a:avLst/>
          </a:prstGeom>
          <a:noFill/>
          <a:ln/>
        </p:spPr>
        <p:txBody>
          <a:bodyPr wrap="square" lIns="0" tIns="0" rIns="0" bIns="0" rtlCol="0" anchor="ctr"/>
          <a:lstStyle/>
          <a:p>
            <a:pPr algn="ctr" indent="0" marL="0">
              <a:buNone/>
            </a:pPr>
            <a:r>
              <a:rPr lang="en-US" sz="1200" b="1" dirty="0">
                <a:solidFill>
                  <a:srgbClr val="21295C"/>
                </a:solidFill>
                <a:latin typeface="Calibri" pitchFamily="34" charset="0"/>
                <a:ea typeface="Calibri" pitchFamily="34" charset="-122"/>
                <a:cs typeface="Calibri" pitchFamily="34" charset="-120"/>
              </a:rPr>
              <a:t>ChatViewModel</a:t>
            </a:r>
            <a:endParaRPr lang="en-US" sz="1200" dirty="0"/>
          </a:p>
        </p:txBody>
      </p:sp>
      <p:sp>
        <p:nvSpPr>
          <p:cNvPr id="17" name="Text 15"/>
          <p:cNvSpPr/>
          <p:nvPr/>
        </p:nvSpPr>
        <p:spPr>
          <a:xfrm>
            <a:off x="7818120" y="2286000"/>
            <a:ext cx="1828800" cy="411480"/>
          </a:xfrm>
          <a:prstGeom prst="rect">
            <a:avLst/>
          </a:prstGeom>
          <a:noFill/>
          <a:ln/>
        </p:spPr>
        <p:txBody>
          <a:bodyPr wrap="square" lIns="0" tIns="0" rIns="0" bIns="0" rtlCol="0" anchor="t"/>
          <a:lstStyle/>
          <a:p>
            <a:pPr algn="ctr" indent="0" marL="0">
              <a:buNone/>
            </a:pPr>
            <a:r>
              <a:rPr lang="en-US" sz="1000" dirty="0">
                <a:solidFill>
                  <a:srgbClr val="64748B"/>
                </a:solidFill>
                <a:latin typeface="Calibri" pitchFamily="34" charset="0"/>
                <a:ea typeface="Calibri" pitchFamily="34" charset="-122"/>
                <a:cs typeface="Calibri" pitchFamily="34" charset="-120"/>
              </a:rPr>
              <a:t>loadRecommendations()</a:t>
            </a:r>
            <a:endParaRPr lang="en-US" sz="1000" dirty="0"/>
          </a:p>
        </p:txBody>
      </p:sp>
      <p:sp>
        <p:nvSpPr>
          <p:cNvPr id="18" name="Shape 16"/>
          <p:cNvSpPr/>
          <p:nvPr/>
        </p:nvSpPr>
        <p:spPr>
          <a:xfrm>
            <a:off x="7680960" y="3108960"/>
            <a:ext cx="2103120" cy="914400"/>
          </a:xfrm>
          <a:prstGeom prst="rect">
            <a:avLst/>
          </a:prstGeom>
          <a:solidFill>
            <a:srgbClr val="FFFFFF"/>
          </a:solidFill>
          <a:ln w="12700">
            <a:solidFill>
              <a:srgbClr val="CBD5E1"/>
            </a:solidFill>
            <a:prstDash val="solid"/>
          </a:ln>
          <a:effectLst>
            <a:outerShdw sx="100000" sy="100000" kx="0" ky="0" algn="bl" rotWithShape="0" blurRad="76200" dist="25400" dir="5400000">
              <a:srgbClr val="000000">
                <a:alpha val="10000"/>
              </a:srgbClr>
            </a:outerShdw>
          </a:effectLst>
        </p:spPr>
      </p:sp>
      <p:sp>
        <p:nvSpPr>
          <p:cNvPr id="19" name="Text 17"/>
          <p:cNvSpPr/>
          <p:nvPr/>
        </p:nvSpPr>
        <p:spPr>
          <a:xfrm>
            <a:off x="7818120" y="3200400"/>
            <a:ext cx="1828800" cy="365760"/>
          </a:xfrm>
          <a:prstGeom prst="rect">
            <a:avLst/>
          </a:prstGeom>
          <a:noFill/>
          <a:ln/>
        </p:spPr>
        <p:txBody>
          <a:bodyPr wrap="square" lIns="0" tIns="0" rIns="0" bIns="0" rtlCol="0" anchor="ctr"/>
          <a:lstStyle/>
          <a:p>
            <a:pPr algn="ctr" indent="0" marL="0">
              <a:buNone/>
            </a:pPr>
            <a:r>
              <a:rPr lang="en-US" sz="1200" b="1" dirty="0">
                <a:solidFill>
                  <a:srgbClr val="21295C"/>
                </a:solidFill>
                <a:latin typeface="Calibri" pitchFamily="34" charset="0"/>
                <a:ea typeface="Calibri" pitchFamily="34" charset="-122"/>
                <a:cs typeface="Calibri" pitchFamily="34" charset="-120"/>
              </a:rPr>
              <a:t>Welcome Screen</a:t>
            </a:r>
            <a:endParaRPr lang="en-US" sz="1200" dirty="0"/>
          </a:p>
        </p:txBody>
      </p:sp>
      <p:sp>
        <p:nvSpPr>
          <p:cNvPr id="20" name="Text 18"/>
          <p:cNvSpPr/>
          <p:nvPr/>
        </p:nvSpPr>
        <p:spPr>
          <a:xfrm>
            <a:off x="7818120" y="3566160"/>
            <a:ext cx="1828800" cy="411480"/>
          </a:xfrm>
          <a:prstGeom prst="rect">
            <a:avLst/>
          </a:prstGeom>
          <a:noFill/>
          <a:ln/>
        </p:spPr>
        <p:txBody>
          <a:bodyPr wrap="square" lIns="0" tIns="0" rIns="0" bIns="0" rtlCol="0" anchor="t"/>
          <a:lstStyle/>
          <a:p>
            <a:pPr algn="ctr" indent="0" marL="0">
              <a:buNone/>
            </a:pPr>
            <a:r>
              <a:rPr lang="en-US" sz="1000" dirty="0">
                <a:solidFill>
                  <a:srgbClr val="64748B"/>
                </a:solidFill>
                <a:latin typeface="Calibri" pitchFamily="34" charset="0"/>
                <a:ea typeface="Calibri" pitchFamily="34" charset="-122"/>
                <a:cs typeface="Calibri" pitchFamily="34" charset="-120"/>
              </a:rPr>
              <a:t>"Users like you..."</a:t>
            </a:r>
            <a:endParaRPr lang="en-US" sz="1000" dirty="0"/>
          </a:p>
        </p:txBody>
      </p:sp>
      <p:sp>
        <p:nvSpPr>
          <p:cNvPr id="21" name="Shape 19"/>
          <p:cNvSpPr/>
          <p:nvPr/>
        </p:nvSpPr>
        <p:spPr>
          <a:xfrm>
            <a:off x="10241280" y="2468880"/>
            <a:ext cx="1554480" cy="1554480"/>
          </a:xfrm>
          <a:prstGeom prst="rect">
            <a:avLst/>
          </a:prstGeom>
          <a:solidFill>
            <a:srgbClr val="F59E0B"/>
          </a:solidFill>
          <a:ln w="12700">
            <a:solidFill>
              <a:srgbClr val="F59E0B"/>
            </a:solidFill>
            <a:prstDash val="solid"/>
          </a:ln>
          <a:effectLst>
            <a:outerShdw sx="100000" sy="100000" kx="0" ky="0" algn="bl" rotWithShape="0" blurRad="76200" dist="25400" dir="5400000">
              <a:srgbClr val="000000">
                <a:alpha val="10000"/>
              </a:srgbClr>
            </a:outerShdw>
          </a:effectLst>
        </p:spPr>
      </p:sp>
      <p:sp>
        <p:nvSpPr>
          <p:cNvPr id="22" name="Text 20"/>
          <p:cNvSpPr/>
          <p:nvPr/>
        </p:nvSpPr>
        <p:spPr>
          <a:xfrm>
            <a:off x="10378440" y="2560320"/>
            <a:ext cx="12801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Top-N</a:t>
            </a:r>
            <a:endParaRPr lang="en-US" sz="1200" dirty="0"/>
          </a:p>
        </p:txBody>
      </p:sp>
      <p:sp>
        <p:nvSpPr>
          <p:cNvPr id="23" name="Text 21"/>
          <p:cNvSpPr/>
          <p:nvPr/>
        </p:nvSpPr>
        <p:spPr>
          <a:xfrm>
            <a:off x="10378440" y="2926080"/>
            <a:ext cx="1280160" cy="1051560"/>
          </a:xfrm>
          <a:prstGeom prst="rect">
            <a:avLst/>
          </a:prstGeom>
          <a:noFill/>
          <a:ln/>
        </p:spPr>
        <p:txBody>
          <a:bodyPr wrap="square" lIns="0" tIns="0" rIns="0" bIns="0" rtlCol="0" anchor="t"/>
          <a:lstStyle/>
          <a:p>
            <a:pPr algn="ctr" indent="0" marL="0">
              <a:buNone/>
            </a:pPr>
            <a:r>
              <a:rPr lang="en-US" sz="1000" dirty="0">
                <a:solidFill>
                  <a:srgbClr val="DBEAFE"/>
                </a:solidFill>
                <a:latin typeface="Calibri" pitchFamily="34" charset="0"/>
                <a:ea typeface="Calibri" pitchFamily="34" charset="-122"/>
                <a:cs typeface="Calibri" pitchFamily="34" charset="-120"/>
              </a:rPr>
              <a:t>limit = 8</a:t>
            </a:r>
            <a:endParaRPr lang="en-US" sz="1000" dirty="0"/>
          </a:p>
          <a:p>
            <a:pPr algn="ctr" indent="0" marL="0">
              <a:buNone/>
            </a:pPr>
            <a:r>
              <a:rPr lang="en-US" sz="1000" dirty="0">
                <a:solidFill>
                  <a:srgbClr val="DBEAFE"/>
                </a:solidFill>
                <a:latin typeface="Calibri" pitchFamily="34" charset="0"/>
                <a:ea typeface="Calibri" pitchFamily="34" charset="-122"/>
                <a:cs typeface="Calibri" pitchFamily="34" charset="-120"/>
              </a:rPr>
              <a:t>(per child)</a:t>
            </a:r>
            <a:endParaRPr lang="en-US" sz="1000" dirty="0"/>
          </a:p>
        </p:txBody>
      </p:sp>
      <p:sp>
        <p:nvSpPr>
          <p:cNvPr id="24" name="Shape 22"/>
          <p:cNvSpPr/>
          <p:nvPr/>
        </p:nvSpPr>
        <p:spPr>
          <a:xfrm>
            <a:off x="1691640" y="3108960"/>
            <a:ext cx="0" cy="-365760"/>
          </a:xfrm>
          <a:prstGeom prst="line">
            <a:avLst/>
          </a:prstGeom>
          <a:noFill/>
          <a:ln w="25400">
            <a:solidFill>
              <a:srgbClr val="64748B"/>
            </a:solidFill>
            <a:prstDash val="solid"/>
            <a:tailEnd type="triangle"/>
          </a:ln>
        </p:spPr>
      </p:sp>
      <p:sp>
        <p:nvSpPr>
          <p:cNvPr id="25" name="Shape 23"/>
          <p:cNvSpPr/>
          <p:nvPr/>
        </p:nvSpPr>
        <p:spPr>
          <a:xfrm>
            <a:off x="2743200" y="3246120"/>
            <a:ext cx="914400" cy="0"/>
          </a:xfrm>
          <a:prstGeom prst="line">
            <a:avLst/>
          </a:prstGeom>
          <a:noFill/>
          <a:ln w="25400">
            <a:solidFill>
              <a:srgbClr val="64748B"/>
            </a:solidFill>
            <a:prstDash val="solid"/>
            <a:tailEnd type="triangle"/>
          </a:ln>
        </p:spPr>
      </p:sp>
      <p:sp>
        <p:nvSpPr>
          <p:cNvPr id="26" name="Shape 24"/>
          <p:cNvSpPr/>
          <p:nvPr/>
        </p:nvSpPr>
        <p:spPr>
          <a:xfrm>
            <a:off x="6583680" y="3246120"/>
            <a:ext cx="1097280" cy="-868680"/>
          </a:xfrm>
          <a:prstGeom prst="line">
            <a:avLst/>
          </a:prstGeom>
          <a:noFill/>
          <a:ln w="25400">
            <a:solidFill>
              <a:srgbClr val="64748B"/>
            </a:solidFill>
            <a:prstDash val="solid"/>
            <a:tailEnd type="triangle"/>
          </a:ln>
        </p:spPr>
      </p:sp>
      <p:sp>
        <p:nvSpPr>
          <p:cNvPr id="27" name="Shape 25"/>
          <p:cNvSpPr/>
          <p:nvPr/>
        </p:nvSpPr>
        <p:spPr>
          <a:xfrm>
            <a:off x="8732520" y="2743200"/>
            <a:ext cx="0" cy="365760"/>
          </a:xfrm>
          <a:prstGeom prst="line">
            <a:avLst/>
          </a:prstGeom>
          <a:noFill/>
          <a:ln w="25400">
            <a:solidFill>
              <a:srgbClr val="64748B"/>
            </a:solidFill>
            <a:prstDash val="solid"/>
            <a:tailEnd type="triangle"/>
          </a:ln>
        </p:spPr>
      </p:sp>
      <p:sp>
        <p:nvSpPr>
          <p:cNvPr id="28" name="Shape 26"/>
          <p:cNvSpPr/>
          <p:nvPr/>
        </p:nvSpPr>
        <p:spPr>
          <a:xfrm>
            <a:off x="6583680" y="3246120"/>
            <a:ext cx="3657600" cy="0"/>
          </a:xfrm>
          <a:prstGeom prst="line">
            <a:avLst/>
          </a:prstGeom>
          <a:noFill/>
          <a:ln w="25400">
            <a:solidFill>
              <a:srgbClr val="64748B"/>
            </a:solidFill>
            <a:prstDash val="solid"/>
            <a:tailEnd type="triangle"/>
          </a:ln>
        </p:spPr>
      </p:sp>
      <p:sp>
        <p:nvSpPr>
          <p:cNvPr id="29" name="Text 27"/>
          <p:cNvSpPr/>
          <p:nvPr/>
        </p:nvSpPr>
        <p:spPr>
          <a:xfrm>
            <a:off x="640080" y="5029200"/>
            <a:ext cx="10972800" cy="1097280"/>
          </a:xfrm>
          <a:prstGeom prst="rect">
            <a:avLst/>
          </a:prstGeom>
          <a:noFill/>
          <a:ln/>
        </p:spPr>
        <p:txBody>
          <a:bodyPr wrap="square" rtlCol="0" anchor="ctr"/>
          <a:lstStyle/>
          <a:p>
            <a:pPr algn="ctr" indent="0" marL="0">
              <a:buNone/>
            </a:pPr>
            <a:r>
              <a:rPr lang="en-US" sz="1400" i="1" dirty="0">
                <a:solidFill>
                  <a:srgbClr val="64748B"/>
                </a:solidFill>
                <a:latin typeface="Calibri" pitchFamily="34" charset="0"/>
                <a:ea typeface="Calibri" pitchFamily="34" charset="-122"/>
                <a:cs typeface="Calibri" pitchFamily="34" charset="-120"/>
              </a:rPr>
              <a:t>Compute on demand: every chat-screen open re-runs the algorithm with fresh interaction data. No batch jobs, no precomputed tables.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65A82"/>
          </a:solidFill>
          <a:ln w="12700">
            <a:solidFill>
              <a:srgbClr val="065A82"/>
            </a:solidFill>
            <a:prstDash val="solid"/>
          </a:ln>
        </p:spPr>
      </p:sp>
      <p:sp>
        <p:nvSpPr>
          <p:cNvPr id="3" name="Text 1"/>
          <p:cNvSpPr/>
          <p:nvPr/>
        </p:nvSpPr>
        <p:spPr>
          <a:xfrm>
            <a:off x="457200" y="320040"/>
            <a:ext cx="11430000" cy="59436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Signal Capture</a:t>
            </a:r>
            <a:endParaRPr lang="en-US" sz="3200" dirty="0"/>
          </a:p>
        </p:txBody>
      </p:sp>
      <p:sp>
        <p:nvSpPr>
          <p:cNvPr id="4" name="Text 2"/>
          <p:cNvSpPr/>
          <p:nvPr/>
        </p:nvSpPr>
        <p:spPr>
          <a:xfrm>
            <a:off x="457200" y="914400"/>
            <a:ext cx="11430000" cy="36576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How user actions translate to interaction weights</a:t>
            </a:r>
            <a:endParaRPr lang="en-US" sz="1400" dirty="0"/>
          </a:p>
        </p:txBody>
      </p:sp>
      <p:sp>
        <p:nvSpPr>
          <p:cNvPr id="5" name="Text 3"/>
          <p:cNvSpPr/>
          <p:nvPr/>
        </p:nvSpPr>
        <p:spPr>
          <a:xfrm>
            <a:off x="457200" y="6492240"/>
            <a:ext cx="548640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Little Dino · FYP26S123</a:t>
            </a:r>
            <a:endParaRPr lang="en-US" sz="900" dirty="0"/>
          </a:p>
        </p:txBody>
      </p:sp>
      <p:sp>
        <p:nvSpPr>
          <p:cNvPr id="6" name="Shape 4"/>
          <p:cNvSpPr/>
          <p:nvPr/>
        </p:nvSpPr>
        <p:spPr>
          <a:xfrm>
            <a:off x="548640" y="1645920"/>
            <a:ext cx="5943600" cy="3108960"/>
          </a:xfrm>
          <a:prstGeom prst="rect">
            <a:avLst/>
          </a:prstGeom>
          <a:solidFill>
            <a:srgbClr val="21295C"/>
          </a:solidFill>
          <a:ln w="12700">
            <a:solidFill>
              <a:srgbClr val="21295C"/>
            </a:solidFill>
            <a:prstDash val="solid"/>
          </a:ln>
        </p:spPr>
      </p:sp>
      <p:sp>
        <p:nvSpPr>
          <p:cNvPr id="7" name="Text 5"/>
          <p:cNvSpPr/>
          <p:nvPr/>
        </p:nvSpPr>
        <p:spPr>
          <a:xfrm>
            <a:off x="685800" y="1737360"/>
            <a:ext cx="5669280" cy="2926080"/>
          </a:xfrm>
          <a:prstGeom prst="rect">
            <a:avLst/>
          </a:prstGeom>
          <a:noFill/>
          <a:ln/>
        </p:spPr>
        <p:txBody>
          <a:bodyPr wrap="square" lIns="0" tIns="0" rIns="0" bIns="0" rtlCol="0" anchor="t"/>
          <a:lstStyle/>
          <a:p>
            <a:pPr algn="l" indent="0" marL="0">
              <a:buNone/>
            </a:pPr>
            <a:r>
              <a:rPr lang="en-US" sz="1200" dirty="0">
                <a:solidFill>
                  <a:srgbClr val="E2E8F0"/>
                </a:solidFill>
                <a:latin typeface="Consolas" pitchFamily="34" charset="0"/>
                <a:ea typeface="Consolas" pitchFamily="34" charset="-122"/>
                <a:cs typeface="Consolas" pitchFamily="34" charset="-120"/>
              </a:rPr>
              <a:t>// loadAllInteractions() — favorites</a:t>
            </a:r>
            <a:endParaRPr lang="en-US" sz="1200" dirty="0"/>
          </a:p>
          <a:p>
            <a:pPr algn="l" indent="0" marL="0">
              <a:buNone/>
            </a:pPr>
            <a:r>
              <a:rPr lang="en-US" sz="1200" dirty="0">
                <a:solidFill>
                  <a:srgbClr val="E2E8F0"/>
                </a:solidFill>
                <a:latin typeface="Consolas" pitchFamily="34" charset="0"/>
                <a:ea typeface="Consolas" pitchFamily="34" charset="-122"/>
                <a:cs typeface="Consolas" pitchFamily="34" charset="-120"/>
              </a:rPr>
              <a:t>UserInteraction(userId, itemId, weight = 3.0)</a:t>
            </a:r>
            <a:endParaRPr lang="en-US" sz="1200" dirty="0"/>
          </a:p>
          <a:p>
            <a:pPr algn="l" indent="0" marL="0">
              <a:buNone/>
            </a:pPr>
            <a:endParaRPr lang="en-US" sz="1200" dirty="0"/>
          </a:p>
          <a:p>
            <a:pPr algn="l" indent="0" marL="0">
              <a:buNone/>
            </a:pPr>
            <a:r>
              <a:rPr lang="en-US" sz="1200" dirty="0">
                <a:solidFill>
                  <a:srgbClr val="E2E8F0"/>
                </a:solidFill>
                <a:latin typeface="Consolas" pitchFamily="34" charset="0"/>
                <a:ea typeface="Consolas" pitchFamily="34" charset="-122"/>
                <a:cs typeface="Consolas" pitchFamily="34" charset="-120"/>
              </a:rPr>
              <a:t>// loadAllInteractions() — readingHistory</a:t>
            </a:r>
            <a:endParaRPr lang="en-US" sz="1200" dirty="0"/>
          </a:p>
          <a:p>
            <a:pPr algn="l" indent="0" marL="0">
              <a:buNone/>
            </a:pPr>
            <a:r>
              <a:rPr lang="en-US" sz="1200" dirty="0">
                <a:solidFill>
                  <a:srgbClr val="E2E8F0"/>
                </a:solidFill>
                <a:latin typeface="Consolas" pitchFamily="34" charset="0"/>
                <a:ea typeface="Consolas" pitchFamily="34" charset="-122"/>
                <a:cs typeface="Consolas" pitchFamily="34" charset="-120"/>
              </a:rPr>
              <a:t>val weight = when {</a:t>
            </a:r>
            <a:endParaRPr lang="en-US" sz="1200" dirty="0"/>
          </a:p>
          <a:p>
            <a:pPr algn="l" indent="0" marL="0">
              <a:buNone/>
            </a:pPr>
            <a:r>
              <a:rPr lang="en-US" sz="1200" dirty="0">
                <a:solidFill>
                  <a:srgbClr val="E2E8F0"/>
                </a:solidFill>
                <a:latin typeface="Consolas" pitchFamily="34" charset="0"/>
                <a:ea typeface="Consolas" pitchFamily="34" charset="-122"/>
                <a:cs typeface="Consolas" pitchFamily="34" charset="-120"/>
              </a:rPr>
              <a:t>    completed &amp;&amp; isVideo -&gt; 2.5</a:t>
            </a:r>
            <a:endParaRPr lang="en-US" sz="1200" dirty="0"/>
          </a:p>
          <a:p>
            <a:pPr algn="l" indent="0" marL="0">
              <a:buNone/>
            </a:pPr>
            <a:r>
              <a:rPr lang="en-US" sz="1200" dirty="0">
                <a:solidFill>
                  <a:srgbClr val="E2E8F0"/>
                </a:solidFill>
                <a:latin typeface="Consolas" pitchFamily="34" charset="0"/>
                <a:ea typeface="Consolas" pitchFamily="34" charset="-122"/>
                <a:cs typeface="Consolas" pitchFamily="34" charset="-120"/>
              </a:rPr>
              <a:t>    completed            -&gt; 2.5</a:t>
            </a:r>
            <a:endParaRPr lang="en-US" sz="1200" dirty="0"/>
          </a:p>
          <a:p>
            <a:pPr algn="l" indent="0" marL="0">
              <a:buNone/>
            </a:pPr>
            <a:r>
              <a:rPr lang="en-US" sz="1200" dirty="0">
                <a:solidFill>
                  <a:srgbClr val="E2E8F0"/>
                </a:solidFill>
                <a:latin typeface="Consolas" pitchFamily="34" charset="0"/>
                <a:ea typeface="Consolas" pitchFamily="34" charset="-122"/>
                <a:cs typeface="Consolas" pitchFamily="34" charset="-120"/>
              </a:rPr>
              <a:t>    else                 -&gt; 1.5     // partial / in-progress</a:t>
            </a:r>
            <a:endParaRPr lang="en-US" sz="1200" dirty="0"/>
          </a:p>
          <a:p>
            <a:pPr algn="l" indent="0" marL="0">
              <a:buNone/>
            </a:pPr>
            <a:r>
              <a:rPr lang="en-US" sz="1200" dirty="0">
                <a:solidFill>
                  <a:srgbClr val="E2E8F0"/>
                </a:solidFill>
                <a:latin typeface="Consolas" pitchFamily="34" charset="0"/>
                <a:ea typeface="Consolas" pitchFamily="34" charset="-122"/>
                <a:cs typeface="Consolas" pitchFamily="34" charset="-120"/>
              </a:rPr>
              <a:t>}</a:t>
            </a:r>
            <a:endParaRPr lang="en-US" sz="1200" dirty="0"/>
          </a:p>
          <a:p>
            <a:pPr algn="l" indent="0" marL="0">
              <a:buNone/>
            </a:pPr>
            <a:endParaRPr lang="en-US" sz="1200" dirty="0"/>
          </a:p>
          <a:p>
            <a:pPr algn="l" indent="0" marL="0">
              <a:buNone/>
            </a:pPr>
            <a:r>
              <a:rPr lang="en-US" sz="1200" dirty="0">
                <a:solidFill>
                  <a:srgbClr val="E2E8F0"/>
                </a:solidFill>
                <a:latin typeface="Consolas" pitchFamily="34" charset="0"/>
                <a:ea typeface="Consolas" pitchFamily="34" charset="-122"/>
                <a:cs typeface="Consolas" pitchFamily="34" charset="-120"/>
              </a:rPr>
              <a:t>// Same user/item pair from multiple sources -&gt; weights summed</a:t>
            </a:r>
            <a:endParaRPr lang="en-US" sz="1200" dirty="0"/>
          </a:p>
          <a:p>
            <a:pPr algn="l" indent="0" marL="0">
              <a:buNone/>
            </a:pPr>
            <a:r>
              <a:rPr lang="en-US" sz="1200" dirty="0">
                <a:solidFill>
                  <a:srgbClr val="E2E8F0"/>
                </a:solidFill>
                <a:latin typeface="Consolas" pitchFamily="34" charset="0"/>
                <a:ea typeface="Consolas" pitchFamily="34" charset="-122"/>
                <a:cs typeface="Consolas" pitchFamily="34" charset="-120"/>
              </a:rPr>
              <a:t>mergeDuplicateInteractions(...) // groupBy "userId::itemId"</a:t>
            </a:r>
            <a:endParaRPr lang="en-US" sz="1200" dirty="0"/>
          </a:p>
        </p:txBody>
      </p:sp>
      <p:sp>
        <p:nvSpPr>
          <p:cNvPr id="8" name="Text 6"/>
          <p:cNvSpPr/>
          <p:nvPr/>
        </p:nvSpPr>
        <p:spPr>
          <a:xfrm>
            <a:off x="6766560" y="1645920"/>
            <a:ext cx="5029200" cy="365760"/>
          </a:xfrm>
          <a:prstGeom prst="rect">
            <a:avLst/>
          </a:prstGeom>
          <a:noFill/>
          <a:ln/>
        </p:spPr>
        <p:txBody>
          <a:bodyPr wrap="square" lIns="0" tIns="0" rIns="0" bIns="0"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Weight design rationale</a:t>
            </a:r>
            <a:endParaRPr lang="en-US" sz="1600" dirty="0"/>
          </a:p>
        </p:txBody>
      </p:sp>
      <p:sp>
        <p:nvSpPr>
          <p:cNvPr id="9" name="Shape 7"/>
          <p:cNvSpPr/>
          <p:nvPr/>
        </p:nvSpPr>
        <p:spPr>
          <a:xfrm>
            <a:off x="6766560" y="2194560"/>
            <a:ext cx="5029200" cy="777240"/>
          </a:xfrm>
          <a:prstGeom prst="rect">
            <a:avLst/>
          </a:prstGeom>
          <a:solidFill>
            <a:srgbClr val="FFFFFF"/>
          </a:solidFill>
          <a:ln w="12700">
            <a:solidFill>
              <a:srgbClr val="E2E8F0"/>
            </a:solidFill>
            <a:prstDash val="solid"/>
          </a:ln>
        </p:spPr>
      </p:sp>
      <p:sp>
        <p:nvSpPr>
          <p:cNvPr id="10" name="Text 8"/>
          <p:cNvSpPr/>
          <p:nvPr/>
        </p:nvSpPr>
        <p:spPr>
          <a:xfrm>
            <a:off x="6766560" y="2194560"/>
            <a:ext cx="822960" cy="777240"/>
          </a:xfrm>
          <a:prstGeom prst="rect">
            <a:avLst/>
          </a:prstGeom>
          <a:noFill/>
          <a:ln/>
        </p:spPr>
        <p:txBody>
          <a:bodyPr wrap="square" lIns="0" tIns="0" rIns="0" bIns="0" rtlCol="0" anchor="ctr"/>
          <a:lstStyle/>
          <a:p>
            <a:pPr algn="ctr" indent="0" marL="0">
              <a:buNone/>
            </a:pPr>
            <a:r>
              <a:rPr lang="en-US" sz="2400" b="1" dirty="0">
                <a:solidFill>
                  <a:srgbClr val="065A82"/>
                </a:solidFill>
                <a:latin typeface="Cambria" pitchFamily="34" charset="0"/>
                <a:ea typeface="Cambria" pitchFamily="34" charset="-122"/>
                <a:cs typeface="Cambria" pitchFamily="34" charset="-120"/>
              </a:rPr>
              <a:t>3.0</a:t>
            </a:r>
            <a:endParaRPr lang="en-US" sz="2400" dirty="0"/>
          </a:p>
        </p:txBody>
      </p:sp>
      <p:sp>
        <p:nvSpPr>
          <p:cNvPr id="11" name="Text 9"/>
          <p:cNvSpPr/>
          <p:nvPr/>
        </p:nvSpPr>
        <p:spPr>
          <a:xfrm>
            <a:off x="7589520" y="2286000"/>
            <a:ext cx="4114800" cy="32004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Favorite</a:t>
            </a:r>
            <a:endParaRPr lang="en-US" sz="1300" dirty="0"/>
          </a:p>
        </p:txBody>
      </p:sp>
      <p:sp>
        <p:nvSpPr>
          <p:cNvPr id="12" name="Text 10"/>
          <p:cNvSpPr/>
          <p:nvPr/>
        </p:nvSpPr>
        <p:spPr>
          <a:xfrm>
            <a:off x="7589520" y="2606040"/>
            <a:ext cx="4114800" cy="3200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Explicit, deliberate signal</a:t>
            </a:r>
            <a:endParaRPr lang="en-US" sz="1100" dirty="0"/>
          </a:p>
        </p:txBody>
      </p:sp>
      <p:sp>
        <p:nvSpPr>
          <p:cNvPr id="13" name="Shape 11"/>
          <p:cNvSpPr/>
          <p:nvPr/>
        </p:nvSpPr>
        <p:spPr>
          <a:xfrm>
            <a:off x="6766560" y="3108960"/>
            <a:ext cx="5029200" cy="777240"/>
          </a:xfrm>
          <a:prstGeom prst="rect">
            <a:avLst/>
          </a:prstGeom>
          <a:solidFill>
            <a:srgbClr val="FFFFFF"/>
          </a:solidFill>
          <a:ln w="12700">
            <a:solidFill>
              <a:srgbClr val="E2E8F0"/>
            </a:solidFill>
            <a:prstDash val="solid"/>
          </a:ln>
        </p:spPr>
      </p:sp>
      <p:sp>
        <p:nvSpPr>
          <p:cNvPr id="14" name="Text 12"/>
          <p:cNvSpPr/>
          <p:nvPr/>
        </p:nvSpPr>
        <p:spPr>
          <a:xfrm>
            <a:off x="6766560" y="3108960"/>
            <a:ext cx="822960" cy="777240"/>
          </a:xfrm>
          <a:prstGeom prst="rect">
            <a:avLst/>
          </a:prstGeom>
          <a:noFill/>
          <a:ln/>
        </p:spPr>
        <p:txBody>
          <a:bodyPr wrap="square" lIns="0" tIns="0" rIns="0" bIns="0" rtlCol="0" anchor="ctr"/>
          <a:lstStyle/>
          <a:p>
            <a:pPr algn="ctr" indent="0" marL="0">
              <a:buNone/>
            </a:pPr>
            <a:r>
              <a:rPr lang="en-US" sz="2400" b="1" dirty="0">
                <a:solidFill>
                  <a:srgbClr val="065A82"/>
                </a:solidFill>
                <a:latin typeface="Cambria" pitchFamily="34" charset="0"/>
                <a:ea typeface="Cambria" pitchFamily="34" charset="-122"/>
                <a:cs typeface="Cambria" pitchFamily="34" charset="-120"/>
              </a:rPr>
              <a:t>2.5</a:t>
            </a:r>
            <a:endParaRPr lang="en-US" sz="2400" dirty="0"/>
          </a:p>
        </p:txBody>
      </p:sp>
      <p:sp>
        <p:nvSpPr>
          <p:cNvPr id="15" name="Text 13"/>
          <p:cNvSpPr/>
          <p:nvPr/>
        </p:nvSpPr>
        <p:spPr>
          <a:xfrm>
            <a:off x="7589520" y="3200400"/>
            <a:ext cx="4114800" cy="32004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Completed read/watch</a:t>
            </a:r>
            <a:endParaRPr lang="en-US" sz="1300" dirty="0"/>
          </a:p>
        </p:txBody>
      </p:sp>
      <p:sp>
        <p:nvSpPr>
          <p:cNvPr id="16" name="Text 14"/>
          <p:cNvSpPr/>
          <p:nvPr/>
        </p:nvSpPr>
        <p:spPr>
          <a:xfrm>
            <a:off x="7589520" y="3520440"/>
            <a:ext cx="4114800" cy="3200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Strong implicit endorsement</a:t>
            </a:r>
            <a:endParaRPr lang="en-US" sz="1100" dirty="0"/>
          </a:p>
        </p:txBody>
      </p:sp>
      <p:sp>
        <p:nvSpPr>
          <p:cNvPr id="17" name="Shape 15"/>
          <p:cNvSpPr/>
          <p:nvPr/>
        </p:nvSpPr>
        <p:spPr>
          <a:xfrm>
            <a:off x="6766560" y="4023360"/>
            <a:ext cx="5029200" cy="777240"/>
          </a:xfrm>
          <a:prstGeom prst="rect">
            <a:avLst/>
          </a:prstGeom>
          <a:solidFill>
            <a:srgbClr val="FFFFFF"/>
          </a:solidFill>
          <a:ln w="12700">
            <a:solidFill>
              <a:srgbClr val="E2E8F0"/>
            </a:solidFill>
            <a:prstDash val="solid"/>
          </a:ln>
        </p:spPr>
      </p:sp>
      <p:sp>
        <p:nvSpPr>
          <p:cNvPr id="18" name="Text 16"/>
          <p:cNvSpPr/>
          <p:nvPr/>
        </p:nvSpPr>
        <p:spPr>
          <a:xfrm>
            <a:off x="6766560" y="4023360"/>
            <a:ext cx="822960" cy="777240"/>
          </a:xfrm>
          <a:prstGeom prst="rect">
            <a:avLst/>
          </a:prstGeom>
          <a:noFill/>
          <a:ln/>
        </p:spPr>
        <p:txBody>
          <a:bodyPr wrap="square" lIns="0" tIns="0" rIns="0" bIns="0" rtlCol="0" anchor="ctr"/>
          <a:lstStyle/>
          <a:p>
            <a:pPr algn="ctr" indent="0" marL="0">
              <a:buNone/>
            </a:pPr>
            <a:r>
              <a:rPr lang="en-US" sz="2400" b="1" dirty="0">
                <a:solidFill>
                  <a:srgbClr val="065A82"/>
                </a:solidFill>
                <a:latin typeface="Cambria" pitchFamily="34" charset="0"/>
                <a:ea typeface="Cambria" pitchFamily="34" charset="-122"/>
                <a:cs typeface="Cambria" pitchFamily="34" charset="-120"/>
              </a:rPr>
              <a:t>1.5</a:t>
            </a:r>
            <a:endParaRPr lang="en-US" sz="2400" dirty="0"/>
          </a:p>
        </p:txBody>
      </p:sp>
      <p:sp>
        <p:nvSpPr>
          <p:cNvPr id="19" name="Text 17"/>
          <p:cNvSpPr/>
          <p:nvPr/>
        </p:nvSpPr>
        <p:spPr>
          <a:xfrm>
            <a:off x="7589520" y="4114800"/>
            <a:ext cx="4114800" cy="32004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Started but not finished</a:t>
            </a:r>
            <a:endParaRPr lang="en-US" sz="1300" dirty="0"/>
          </a:p>
        </p:txBody>
      </p:sp>
      <p:sp>
        <p:nvSpPr>
          <p:cNvPr id="20" name="Text 18"/>
          <p:cNvSpPr/>
          <p:nvPr/>
        </p:nvSpPr>
        <p:spPr>
          <a:xfrm>
            <a:off x="7589520" y="4434840"/>
            <a:ext cx="4114800" cy="3200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Mild interest, also useful</a:t>
            </a:r>
            <a:endParaRPr lang="en-US" sz="1100" dirty="0"/>
          </a:p>
        </p:txBody>
      </p:sp>
      <p:sp>
        <p:nvSpPr>
          <p:cNvPr id="21" name="Text 19"/>
          <p:cNvSpPr/>
          <p:nvPr/>
        </p:nvSpPr>
        <p:spPr>
          <a:xfrm>
            <a:off x="548640" y="5120640"/>
            <a:ext cx="11247120" cy="822960"/>
          </a:xfrm>
          <a:prstGeom prst="rect">
            <a:avLst/>
          </a:prstGeom>
          <a:noFill/>
          <a:ln/>
        </p:spPr>
        <p:txBody>
          <a:bodyPr wrap="square" lIns="0" tIns="0" rIns="0" bIns="0" rtlCol="0" anchor="ctr"/>
          <a:lstStyle/>
          <a:p>
            <a:pPr algn="ctr" indent="0" marL="0">
              <a:buNone/>
            </a:pPr>
            <a:r>
              <a:rPr lang="en-US" sz="1300" i="1" dirty="0">
                <a:solidFill>
                  <a:srgbClr val="64748B"/>
                </a:solidFill>
                <a:latin typeface="Calibri" pitchFamily="34" charset="0"/>
                <a:ea typeface="Calibri" pitchFamily="34" charset="-122"/>
                <a:cs typeface="Calibri" pitchFamily="34" charset="-120"/>
              </a:rPr>
              <a:t>Summing duplicates means a child who both favorited AND finished an item gets weight 5.5 — proportional to combined enthusiasm.</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65A82"/>
          </a:solidFill>
          <a:ln w="12700">
            <a:solidFill>
              <a:srgbClr val="065A82"/>
            </a:solidFill>
            <a:prstDash val="solid"/>
          </a:ln>
        </p:spPr>
      </p:sp>
      <p:sp>
        <p:nvSpPr>
          <p:cNvPr id="3" name="Text 1"/>
          <p:cNvSpPr/>
          <p:nvPr/>
        </p:nvSpPr>
        <p:spPr>
          <a:xfrm>
            <a:off x="457200" y="320040"/>
            <a:ext cx="11430000" cy="59436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Loading the Matrix in Parallel</a:t>
            </a:r>
            <a:endParaRPr lang="en-US" sz="3200" dirty="0"/>
          </a:p>
        </p:txBody>
      </p:sp>
      <p:sp>
        <p:nvSpPr>
          <p:cNvPr id="4" name="Text 2"/>
          <p:cNvSpPr/>
          <p:nvPr/>
        </p:nvSpPr>
        <p:spPr>
          <a:xfrm>
            <a:off x="457200" y="914400"/>
            <a:ext cx="11430000" cy="36576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Avoiding O(N) sequential round-trips</a:t>
            </a:r>
            <a:endParaRPr lang="en-US" sz="1400" dirty="0"/>
          </a:p>
        </p:txBody>
      </p:sp>
      <p:sp>
        <p:nvSpPr>
          <p:cNvPr id="5" name="Text 3"/>
          <p:cNvSpPr/>
          <p:nvPr/>
        </p:nvSpPr>
        <p:spPr>
          <a:xfrm>
            <a:off x="457200" y="6492240"/>
            <a:ext cx="548640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Little Dino · FYP26S123</a:t>
            </a:r>
            <a:endParaRPr lang="en-US" sz="900" dirty="0"/>
          </a:p>
        </p:txBody>
      </p:sp>
      <p:sp>
        <p:nvSpPr>
          <p:cNvPr id="6" name="Text 4"/>
          <p:cNvSpPr/>
          <p:nvPr/>
        </p:nvSpPr>
        <p:spPr>
          <a:xfrm>
            <a:off x="548640" y="1554480"/>
            <a:ext cx="5486400" cy="365760"/>
          </a:xfrm>
          <a:prstGeom prst="rect">
            <a:avLst/>
          </a:prstGeom>
          <a:noFill/>
          <a:ln/>
        </p:spPr>
        <p:txBody>
          <a:bodyPr wrap="square" rtlCol="0" anchor="ctr"/>
          <a:lstStyle/>
          <a:p>
            <a:pPr indent="0" marL="0">
              <a:buNone/>
            </a:pPr>
            <a:r>
              <a:rPr lang="en-US" sz="1600" b="1" dirty="0">
                <a:solidFill>
                  <a:srgbClr val="1F2937"/>
                </a:solidFill>
                <a:latin typeface="Calibri" pitchFamily="34" charset="0"/>
                <a:ea typeface="Calibri" pitchFamily="34" charset="-122"/>
                <a:cs typeface="Calibri" pitchFamily="34" charset="-120"/>
              </a:rPr>
              <a:t>Naive (sequential)</a:t>
            </a:r>
            <a:endParaRPr lang="en-US" sz="1600" dirty="0"/>
          </a:p>
        </p:txBody>
      </p:sp>
      <p:sp>
        <p:nvSpPr>
          <p:cNvPr id="7" name="Text 5"/>
          <p:cNvSpPr/>
          <p:nvPr/>
        </p:nvSpPr>
        <p:spPr>
          <a:xfrm>
            <a:off x="6309360" y="1554480"/>
            <a:ext cx="5486400" cy="365760"/>
          </a:xfrm>
          <a:prstGeom prst="rect">
            <a:avLst/>
          </a:prstGeom>
          <a:noFill/>
          <a:ln/>
        </p:spPr>
        <p:txBody>
          <a:bodyPr wrap="square" rtlCol="0" anchor="ctr"/>
          <a:lstStyle/>
          <a:p>
            <a:pPr indent="0" marL="0">
              <a:buNone/>
            </a:pPr>
            <a:r>
              <a:rPr lang="en-US" sz="1600" b="1" dirty="0">
                <a:solidFill>
                  <a:srgbClr val="065A82"/>
                </a:solidFill>
                <a:latin typeface="Calibri" pitchFamily="34" charset="0"/>
                <a:ea typeface="Calibri" pitchFamily="34" charset="-122"/>
                <a:cs typeface="Calibri" pitchFamily="34" charset="-120"/>
              </a:rPr>
              <a:t>Optimized (parallel async)</a:t>
            </a:r>
            <a:endParaRPr lang="en-US" sz="1600" dirty="0"/>
          </a:p>
        </p:txBody>
      </p:sp>
      <p:sp>
        <p:nvSpPr>
          <p:cNvPr id="8" name="Shape 6"/>
          <p:cNvSpPr/>
          <p:nvPr/>
        </p:nvSpPr>
        <p:spPr>
          <a:xfrm>
            <a:off x="548640" y="2011680"/>
            <a:ext cx="457200" cy="1371600"/>
          </a:xfrm>
          <a:prstGeom prst="rect">
            <a:avLst/>
          </a:prstGeom>
          <a:solidFill>
            <a:srgbClr val="EF4444"/>
          </a:solidFill>
          <a:ln w="12700">
            <a:solidFill>
              <a:srgbClr val="FCA5A5"/>
            </a:solidFill>
            <a:prstDash val="solid"/>
          </a:ln>
        </p:spPr>
      </p:sp>
      <p:sp>
        <p:nvSpPr>
          <p:cNvPr id="9" name="Text 7"/>
          <p:cNvSpPr/>
          <p:nvPr/>
        </p:nvSpPr>
        <p:spPr>
          <a:xfrm>
            <a:off x="548640" y="3383280"/>
            <a:ext cx="457200" cy="274320"/>
          </a:xfrm>
          <a:prstGeom prst="rect">
            <a:avLst/>
          </a:prstGeom>
          <a:noFill/>
          <a:ln/>
        </p:spPr>
        <p:txBody>
          <a:bodyPr wrap="square" lIns="0" tIns="0" rIns="0" bIns="0" rtlCol="0" anchor="ctr"/>
          <a:lstStyle/>
          <a:p>
            <a:pPr algn="ctr" indent="0" marL="0">
              <a:buNone/>
            </a:pPr>
            <a:r>
              <a:rPr lang="en-US" sz="900" dirty="0">
                <a:solidFill>
                  <a:srgbClr val="64748B"/>
                </a:solidFill>
                <a:latin typeface="Consolas" pitchFamily="34" charset="0"/>
                <a:ea typeface="Consolas" pitchFamily="34" charset="-122"/>
                <a:cs typeface="Consolas" pitchFamily="34" charset="-120"/>
              </a:rPr>
              <a:t>U1</a:t>
            </a:r>
            <a:endParaRPr lang="en-US" sz="900" dirty="0"/>
          </a:p>
        </p:txBody>
      </p:sp>
      <p:sp>
        <p:nvSpPr>
          <p:cNvPr id="10" name="Shape 8"/>
          <p:cNvSpPr/>
          <p:nvPr/>
        </p:nvSpPr>
        <p:spPr>
          <a:xfrm>
            <a:off x="1143000" y="2011680"/>
            <a:ext cx="457200" cy="1371600"/>
          </a:xfrm>
          <a:prstGeom prst="rect">
            <a:avLst/>
          </a:prstGeom>
          <a:solidFill>
            <a:srgbClr val="FCA5A5"/>
          </a:solidFill>
          <a:ln w="12700">
            <a:solidFill>
              <a:srgbClr val="FCA5A5"/>
            </a:solidFill>
            <a:prstDash val="solid"/>
          </a:ln>
        </p:spPr>
      </p:sp>
      <p:sp>
        <p:nvSpPr>
          <p:cNvPr id="11" name="Text 9"/>
          <p:cNvSpPr/>
          <p:nvPr/>
        </p:nvSpPr>
        <p:spPr>
          <a:xfrm>
            <a:off x="1143000" y="3383280"/>
            <a:ext cx="457200" cy="274320"/>
          </a:xfrm>
          <a:prstGeom prst="rect">
            <a:avLst/>
          </a:prstGeom>
          <a:noFill/>
          <a:ln/>
        </p:spPr>
        <p:txBody>
          <a:bodyPr wrap="square" lIns="0" tIns="0" rIns="0" bIns="0" rtlCol="0" anchor="ctr"/>
          <a:lstStyle/>
          <a:p>
            <a:pPr algn="ctr" indent="0" marL="0">
              <a:buNone/>
            </a:pPr>
            <a:r>
              <a:rPr lang="en-US" sz="900" dirty="0">
                <a:solidFill>
                  <a:srgbClr val="64748B"/>
                </a:solidFill>
                <a:latin typeface="Consolas" pitchFamily="34" charset="0"/>
                <a:ea typeface="Consolas" pitchFamily="34" charset="-122"/>
                <a:cs typeface="Consolas" pitchFamily="34" charset="-120"/>
              </a:rPr>
              <a:t>U2</a:t>
            </a:r>
            <a:endParaRPr lang="en-US" sz="900" dirty="0"/>
          </a:p>
        </p:txBody>
      </p:sp>
      <p:sp>
        <p:nvSpPr>
          <p:cNvPr id="12" name="Shape 10"/>
          <p:cNvSpPr/>
          <p:nvPr/>
        </p:nvSpPr>
        <p:spPr>
          <a:xfrm>
            <a:off x="1737360" y="2011680"/>
            <a:ext cx="457200" cy="1371600"/>
          </a:xfrm>
          <a:prstGeom prst="rect">
            <a:avLst/>
          </a:prstGeom>
          <a:solidFill>
            <a:srgbClr val="FCA5A5"/>
          </a:solidFill>
          <a:ln w="12700">
            <a:solidFill>
              <a:srgbClr val="FCA5A5"/>
            </a:solidFill>
            <a:prstDash val="solid"/>
          </a:ln>
        </p:spPr>
      </p:sp>
      <p:sp>
        <p:nvSpPr>
          <p:cNvPr id="13" name="Text 11"/>
          <p:cNvSpPr/>
          <p:nvPr/>
        </p:nvSpPr>
        <p:spPr>
          <a:xfrm>
            <a:off x="1737360" y="3383280"/>
            <a:ext cx="457200" cy="274320"/>
          </a:xfrm>
          <a:prstGeom prst="rect">
            <a:avLst/>
          </a:prstGeom>
          <a:noFill/>
          <a:ln/>
        </p:spPr>
        <p:txBody>
          <a:bodyPr wrap="square" lIns="0" tIns="0" rIns="0" bIns="0" rtlCol="0" anchor="ctr"/>
          <a:lstStyle/>
          <a:p>
            <a:pPr algn="ctr" indent="0" marL="0">
              <a:buNone/>
            </a:pPr>
            <a:r>
              <a:rPr lang="en-US" sz="900" dirty="0">
                <a:solidFill>
                  <a:srgbClr val="64748B"/>
                </a:solidFill>
                <a:latin typeface="Consolas" pitchFamily="34" charset="0"/>
                <a:ea typeface="Consolas" pitchFamily="34" charset="-122"/>
                <a:cs typeface="Consolas" pitchFamily="34" charset="-120"/>
              </a:rPr>
              <a:t>U3</a:t>
            </a:r>
            <a:endParaRPr lang="en-US" sz="900" dirty="0"/>
          </a:p>
        </p:txBody>
      </p:sp>
      <p:sp>
        <p:nvSpPr>
          <p:cNvPr id="14" name="Shape 12"/>
          <p:cNvSpPr/>
          <p:nvPr/>
        </p:nvSpPr>
        <p:spPr>
          <a:xfrm>
            <a:off x="2331720" y="2011680"/>
            <a:ext cx="457200" cy="1371600"/>
          </a:xfrm>
          <a:prstGeom prst="rect">
            <a:avLst/>
          </a:prstGeom>
          <a:solidFill>
            <a:srgbClr val="FCA5A5"/>
          </a:solidFill>
          <a:ln w="12700">
            <a:solidFill>
              <a:srgbClr val="FCA5A5"/>
            </a:solidFill>
            <a:prstDash val="solid"/>
          </a:ln>
        </p:spPr>
      </p:sp>
      <p:sp>
        <p:nvSpPr>
          <p:cNvPr id="15" name="Text 13"/>
          <p:cNvSpPr/>
          <p:nvPr/>
        </p:nvSpPr>
        <p:spPr>
          <a:xfrm>
            <a:off x="2331720" y="3383280"/>
            <a:ext cx="457200" cy="274320"/>
          </a:xfrm>
          <a:prstGeom prst="rect">
            <a:avLst/>
          </a:prstGeom>
          <a:noFill/>
          <a:ln/>
        </p:spPr>
        <p:txBody>
          <a:bodyPr wrap="square" lIns="0" tIns="0" rIns="0" bIns="0" rtlCol="0" anchor="ctr"/>
          <a:lstStyle/>
          <a:p>
            <a:pPr algn="ctr" indent="0" marL="0">
              <a:buNone/>
            </a:pPr>
            <a:r>
              <a:rPr lang="en-US" sz="900" dirty="0">
                <a:solidFill>
                  <a:srgbClr val="64748B"/>
                </a:solidFill>
                <a:latin typeface="Consolas" pitchFamily="34" charset="0"/>
                <a:ea typeface="Consolas" pitchFamily="34" charset="-122"/>
                <a:cs typeface="Consolas" pitchFamily="34" charset="-120"/>
              </a:rPr>
              <a:t>U4</a:t>
            </a:r>
            <a:endParaRPr lang="en-US" sz="900" dirty="0"/>
          </a:p>
        </p:txBody>
      </p:sp>
      <p:sp>
        <p:nvSpPr>
          <p:cNvPr id="16" name="Shape 14"/>
          <p:cNvSpPr/>
          <p:nvPr/>
        </p:nvSpPr>
        <p:spPr>
          <a:xfrm>
            <a:off x="2926080" y="2011680"/>
            <a:ext cx="457200" cy="1371600"/>
          </a:xfrm>
          <a:prstGeom prst="rect">
            <a:avLst/>
          </a:prstGeom>
          <a:solidFill>
            <a:srgbClr val="FCA5A5"/>
          </a:solidFill>
          <a:ln w="12700">
            <a:solidFill>
              <a:srgbClr val="FCA5A5"/>
            </a:solidFill>
            <a:prstDash val="solid"/>
          </a:ln>
        </p:spPr>
      </p:sp>
      <p:sp>
        <p:nvSpPr>
          <p:cNvPr id="17" name="Text 15"/>
          <p:cNvSpPr/>
          <p:nvPr/>
        </p:nvSpPr>
        <p:spPr>
          <a:xfrm>
            <a:off x="2926080" y="3383280"/>
            <a:ext cx="457200" cy="274320"/>
          </a:xfrm>
          <a:prstGeom prst="rect">
            <a:avLst/>
          </a:prstGeom>
          <a:noFill/>
          <a:ln/>
        </p:spPr>
        <p:txBody>
          <a:bodyPr wrap="square" lIns="0" tIns="0" rIns="0" bIns="0" rtlCol="0" anchor="ctr"/>
          <a:lstStyle/>
          <a:p>
            <a:pPr algn="ctr" indent="0" marL="0">
              <a:buNone/>
            </a:pPr>
            <a:r>
              <a:rPr lang="en-US" sz="900" dirty="0">
                <a:solidFill>
                  <a:srgbClr val="64748B"/>
                </a:solidFill>
                <a:latin typeface="Consolas" pitchFamily="34" charset="0"/>
                <a:ea typeface="Consolas" pitchFamily="34" charset="-122"/>
                <a:cs typeface="Consolas" pitchFamily="34" charset="-120"/>
              </a:rPr>
              <a:t>U5</a:t>
            </a:r>
            <a:endParaRPr lang="en-US" sz="900" dirty="0"/>
          </a:p>
        </p:txBody>
      </p:sp>
      <p:sp>
        <p:nvSpPr>
          <p:cNvPr id="18" name="Shape 16"/>
          <p:cNvSpPr/>
          <p:nvPr/>
        </p:nvSpPr>
        <p:spPr>
          <a:xfrm>
            <a:off x="3520440" y="2011680"/>
            <a:ext cx="457200" cy="1371600"/>
          </a:xfrm>
          <a:prstGeom prst="rect">
            <a:avLst/>
          </a:prstGeom>
          <a:solidFill>
            <a:srgbClr val="FCA5A5"/>
          </a:solidFill>
          <a:ln w="12700">
            <a:solidFill>
              <a:srgbClr val="FCA5A5"/>
            </a:solidFill>
            <a:prstDash val="solid"/>
          </a:ln>
        </p:spPr>
      </p:sp>
      <p:sp>
        <p:nvSpPr>
          <p:cNvPr id="19" name="Text 17"/>
          <p:cNvSpPr/>
          <p:nvPr/>
        </p:nvSpPr>
        <p:spPr>
          <a:xfrm>
            <a:off x="3520440" y="3383280"/>
            <a:ext cx="457200" cy="274320"/>
          </a:xfrm>
          <a:prstGeom prst="rect">
            <a:avLst/>
          </a:prstGeom>
          <a:noFill/>
          <a:ln/>
        </p:spPr>
        <p:txBody>
          <a:bodyPr wrap="square" lIns="0" tIns="0" rIns="0" bIns="0" rtlCol="0" anchor="ctr"/>
          <a:lstStyle/>
          <a:p>
            <a:pPr algn="ctr" indent="0" marL="0">
              <a:buNone/>
            </a:pPr>
            <a:r>
              <a:rPr lang="en-US" sz="900" dirty="0">
                <a:solidFill>
                  <a:srgbClr val="64748B"/>
                </a:solidFill>
                <a:latin typeface="Consolas" pitchFamily="34" charset="0"/>
                <a:ea typeface="Consolas" pitchFamily="34" charset="-122"/>
                <a:cs typeface="Consolas" pitchFamily="34" charset="-120"/>
              </a:rPr>
              <a:t>U6</a:t>
            </a:r>
            <a:endParaRPr lang="en-US" sz="900" dirty="0"/>
          </a:p>
        </p:txBody>
      </p:sp>
      <p:sp>
        <p:nvSpPr>
          <p:cNvPr id="20" name="Shape 18"/>
          <p:cNvSpPr/>
          <p:nvPr/>
        </p:nvSpPr>
        <p:spPr>
          <a:xfrm>
            <a:off x="4114800" y="2011680"/>
            <a:ext cx="457200" cy="1371600"/>
          </a:xfrm>
          <a:prstGeom prst="rect">
            <a:avLst/>
          </a:prstGeom>
          <a:solidFill>
            <a:srgbClr val="FCA5A5"/>
          </a:solidFill>
          <a:ln w="12700">
            <a:solidFill>
              <a:srgbClr val="FCA5A5"/>
            </a:solidFill>
            <a:prstDash val="solid"/>
          </a:ln>
        </p:spPr>
      </p:sp>
      <p:sp>
        <p:nvSpPr>
          <p:cNvPr id="21" name="Text 19"/>
          <p:cNvSpPr/>
          <p:nvPr/>
        </p:nvSpPr>
        <p:spPr>
          <a:xfrm>
            <a:off x="4114800" y="3383280"/>
            <a:ext cx="457200" cy="274320"/>
          </a:xfrm>
          <a:prstGeom prst="rect">
            <a:avLst/>
          </a:prstGeom>
          <a:noFill/>
          <a:ln/>
        </p:spPr>
        <p:txBody>
          <a:bodyPr wrap="square" lIns="0" tIns="0" rIns="0" bIns="0" rtlCol="0" anchor="ctr"/>
          <a:lstStyle/>
          <a:p>
            <a:pPr algn="ctr" indent="0" marL="0">
              <a:buNone/>
            </a:pPr>
            <a:r>
              <a:rPr lang="en-US" sz="900" dirty="0">
                <a:solidFill>
                  <a:srgbClr val="64748B"/>
                </a:solidFill>
                <a:latin typeface="Consolas" pitchFamily="34" charset="0"/>
                <a:ea typeface="Consolas" pitchFamily="34" charset="-122"/>
                <a:cs typeface="Consolas" pitchFamily="34" charset="-120"/>
              </a:rPr>
              <a:t>U7</a:t>
            </a:r>
            <a:endParaRPr lang="en-US" sz="900" dirty="0"/>
          </a:p>
        </p:txBody>
      </p:sp>
      <p:sp>
        <p:nvSpPr>
          <p:cNvPr id="22" name="Shape 20"/>
          <p:cNvSpPr/>
          <p:nvPr/>
        </p:nvSpPr>
        <p:spPr>
          <a:xfrm>
            <a:off x="4709160" y="2011680"/>
            <a:ext cx="457200" cy="1371600"/>
          </a:xfrm>
          <a:prstGeom prst="rect">
            <a:avLst/>
          </a:prstGeom>
          <a:solidFill>
            <a:srgbClr val="FCA5A5"/>
          </a:solidFill>
          <a:ln w="12700">
            <a:solidFill>
              <a:srgbClr val="FCA5A5"/>
            </a:solidFill>
            <a:prstDash val="solid"/>
          </a:ln>
        </p:spPr>
      </p:sp>
      <p:sp>
        <p:nvSpPr>
          <p:cNvPr id="23" name="Text 21"/>
          <p:cNvSpPr/>
          <p:nvPr/>
        </p:nvSpPr>
        <p:spPr>
          <a:xfrm>
            <a:off x="4709160" y="3383280"/>
            <a:ext cx="457200" cy="274320"/>
          </a:xfrm>
          <a:prstGeom prst="rect">
            <a:avLst/>
          </a:prstGeom>
          <a:noFill/>
          <a:ln/>
        </p:spPr>
        <p:txBody>
          <a:bodyPr wrap="square" lIns="0" tIns="0" rIns="0" bIns="0" rtlCol="0" anchor="ctr"/>
          <a:lstStyle/>
          <a:p>
            <a:pPr algn="ctr" indent="0" marL="0">
              <a:buNone/>
            </a:pPr>
            <a:r>
              <a:rPr lang="en-US" sz="900" dirty="0">
                <a:solidFill>
                  <a:srgbClr val="64748B"/>
                </a:solidFill>
                <a:latin typeface="Consolas" pitchFamily="34" charset="0"/>
                <a:ea typeface="Consolas" pitchFamily="34" charset="-122"/>
                <a:cs typeface="Consolas" pitchFamily="34" charset="-120"/>
              </a:rPr>
              <a:t>U8</a:t>
            </a:r>
            <a:endParaRPr lang="en-US" sz="900" dirty="0"/>
          </a:p>
        </p:txBody>
      </p:sp>
      <p:sp>
        <p:nvSpPr>
          <p:cNvPr id="24" name="Text 22"/>
          <p:cNvSpPr/>
          <p:nvPr/>
        </p:nvSpPr>
        <p:spPr>
          <a:xfrm>
            <a:off x="548640" y="3840480"/>
            <a:ext cx="5486400" cy="365760"/>
          </a:xfrm>
          <a:prstGeom prst="rect">
            <a:avLst/>
          </a:prstGeom>
          <a:noFill/>
          <a:ln/>
        </p:spPr>
        <p:txBody>
          <a:bodyPr wrap="square" rtlCol="0" anchor="ctr"/>
          <a:lstStyle/>
          <a:p>
            <a:pPr indent="0" marL="0">
              <a:buNone/>
            </a:pPr>
            <a:r>
              <a:rPr lang="en-US" sz="1200" i="1" dirty="0">
                <a:solidFill>
                  <a:srgbClr val="DC2626"/>
                </a:solidFill>
                <a:latin typeface="Calibri" pitchFamily="34" charset="0"/>
                <a:ea typeface="Calibri" pitchFamily="34" charset="-122"/>
                <a:cs typeface="Calibri" pitchFamily="34" charset="-120"/>
              </a:rPr>
              <a:t>Total time = N × await</a:t>
            </a:r>
            <a:endParaRPr lang="en-US" sz="1200" dirty="0"/>
          </a:p>
        </p:txBody>
      </p:sp>
      <p:sp>
        <p:nvSpPr>
          <p:cNvPr id="25" name="Shape 23"/>
          <p:cNvSpPr/>
          <p:nvPr/>
        </p:nvSpPr>
        <p:spPr>
          <a:xfrm>
            <a:off x="6309360" y="2011680"/>
            <a:ext cx="128016" cy="1371600"/>
          </a:xfrm>
          <a:prstGeom prst="rect">
            <a:avLst/>
          </a:prstGeom>
          <a:solidFill>
            <a:srgbClr val="10B981"/>
          </a:solidFill>
          <a:ln w="12700">
            <a:solidFill>
              <a:srgbClr val="10B981"/>
            </a:solidFill>
            <a:prstDash val="solid"/>
          </a:ln>
        </p:spPr>
      </p:sp>
      <p:sp>
        <p:nvSpPr>
          <p:cNvPr id="26" name="Shape 24"/>
          <p:cNvSpPr/>
          <p:nvPr/>
        </p:nvSpPr>
        <p:spPr>
          <a:xfrm>
            <a:off x="6473952" y="2011680"/>
            <a:ext cx="128016" cy="1371600"/>
          </a:xfrm>
          <a:prstGeom prst="rect">
            <a:avLst/>
          </a:prstGeom>
          <a:solidFill>
            <a:srgbClr val="10B981"/>
          </a:solidFill>
          <a:ln w="12700">
            <a:solidFill>
              <a:srgbClr val="10B981"/>
            </a:solidFill>
            <a:prstDash val="solid"/>
          </a:ln>
        </p:spPr>
      </p:sp>
      <p:sp>
        <p:nvSpPr>
          <p:cNvPr id="27" name="Shape 25"/>
          <p:cNvSpPr/>
          <p:nvPr/>
        </p:nvSpPr>
        <p:spPr>
          <a:xfrm>
            <a:off x="6638544" y="2011680"/>
            <a:ext cx="128016" cy="1371600"/>
          </a:xfrm>
          <a:prstGeom prst="rect">
            <a:avLst/>
          </a:prstGeom>
          <a:solidFill>
            <a:srgbClr val="10B981"/>
          </a:solidFill>
          <a:ln w="12700">
            <a:solidFill>
              <a:srgbClr val="10B981"/>
            </a:solidFill>
            <a:prstDash val="solid"/>
          </a:ln>
        </p:spPr>
      </p:sp>
      <p:sp>
        <p:nvSpPr>
          <p:cNvPr id="28" name="Shape 26"/>
          <p:cNvSpPr/>
          <p:nvPr/>
        </p:nvSpPr>
        <p:spPr>
          <a:xfrm>
            <a:off x="6803136" y="2011680"/>
            <a:ext cx="128016" cy="1371600"/>
          </a:xfrm>
          <a:prstGeom prst="rect">
            <a:avLst/>
          </a:prstGeom>
          <a:solidFill>
            <a:srgbClr val="10B981"/>
          </a:solidFill>
          <a:ln w="12700">
            <a:solidFill>
              <a:srgbClr val="10B981"/>
            </a:solidFill>
            <a:prstDash val="solid"/>
          </a:ln>
        </p:spPr>
      </p:sp>
      <p:sp>
        <p:nvSpPr>
          <p:cNvPr id="29" name="Shape 27"/>
          <p:cNvSpPr/>
          <p:nvPr/>
        </p:nvSpPr>
        <p:spPr>
          <a:xfrm>
            <a:off x="6967728" y="2011680"/>
            <a:ext cx="128016" cy="1371600"/>
          </a:xfrm>
          <a:prstGeom prst="rect">
            <a:avLst/>
          </a:prstGeom>
          <a:solidFill>
            <a:srgbClr val="10B981"/>
          </a:solidFill>
          <a:ln w="12700">
            <a:solidFill>
              <a:srgbClr val="10B981"/>
            </a:solidFill>
            <a:prstDash val="solid"/>
          </a:ln>
        </p:spPr>
      </p:sp>
      <p:sp>
        <p:nvSpPr>
          <p:cNvPr id="30" name="Shape 28"/>
          <p:cNvSpPr/>
          <p:nvPr/>
        </p:nvSpPr>
        <p:spPr>
          <a:xfrm>
            <a:off x="7132320" y="2011680"/>
            <a:ext cx="128016" cy="1371600"/>
          </a:xfrm>
          <a:prstGeom prst="rect">
            <a:avLst/>
          </a:prstGeom>
          <a:solidFill>
            <a:srgbClr val="10B981"/>
          </a:solidFill>
          <a:ln w="12700">
            <a:solidFill>
              <a:srgbClr val="10B981"/>
            </a:solidFill>
            <a:prstDash val="solid"/>
          </a:ln>
        </p:spPr>
      </p:sp>
      <p:sp>
        <p:nvSpPr>
          <p:cNvPr id="31" name="Shape 29"/>
          <p:cNvSpPr/>
          <p:nvPr/>
        </p:nvSpPr>
        <p:spPr>
          <a:xfrm>
            <a:off x="7296912" y="2011680"/>
            <a:ext cx="128016" cy="1371600"/>
          </a:xfrm>
          <a:prstGeom prst="rect">
            <a:avLst/>
          </a:prstGeom>
          <a:solidFill>
            <a:srgbClr val="10B981"/>
          </a:solidFill>
          <a:ln w="12700">
            <a:solidFill>
              <a:srgbClr val="10B981"/>
            </a:solidFill>
            <a:prstDash val="solid"/>
          </a:ln>
        </p:spPr>
      </p:sp>
      <p:sp>
        <p:nvSpPr>
          <p:cNvPr id="32" name="Shape 30"/>
          <p:cNvSpPr/>
          <p:nvPr/>
        </p:nvSpPr>
        <p:spPr>
          <a:xfrm>
            <a:off x="7461504" y="2011680"/>
            <a:ext cx="128016" cy="1371600"/>
          </a:xfrm>
          <a:prstGeom prst="rect">
            <a:avLst/>
          </a:prstGeom>
          <a:solidFill>
            <a:srgbClr val="10B981"/>
          </a:solidFill>
          <a:ln w="12700">
            <a:solidFill>
              <a:srgbClr val="10B981"/>
            </a:solidFill>
            <a:prstDash val="solid"/>
          </a:ln>
        </p:spPr>
      </p:sp>
      <p:sp>
        <p:nvSpPr>
          <p:cNvPr id="33" name="Text 31"/>
          <p:cNvSpPr/>
          <p:nvPr/>
        </p:nvSpPr>
        <p:spPr>
          <a:xfrm>
            <a:off x="6309360" y="3840480"/>
            <a:ext cx="5486400" cy="365760"/>
          </a:xfrm>
          <a:prstGeom prst="rect">
            <a:avLst/>
          </a:prstGeom>
          <a:noFill/>
          <a:ln/>
        </p:spPr>
        <p:txBody>
          <a:bodyPr wrap="square" rtlCol="0" anchor="ctr"/>
          <a:lstStyle/>
          <a:p>
            <a:pPr indent="0" marL="0">
              <a:buNone/>
            </a:pPr>
            <a:r>
              <a:rPr lang="en-US" sz="1200" i="1" dirty="0">
                <a:solidFill>
                  <a:srgbClr val="059669"/>
                </a:solidFill>
                <a:latin typeface="Calibri" pitchFamily="34" charset="0"/>
                <a:ea typeface="Calibri" pitchFamily="34" charset="-122"/>
                <a:cs typeface="Calibri" pitchFamily="34" charset="-120"/>
              </a:rPr>
              <a:t>Total time ≈ max(await)</a:t>
            </a:r>
            <a:endParaRPr lang="en-US" sz="1200" dirty="0"/>
          </a:p>
        </p:txBody>
      </p:sp>
      <p:sp>
        <p:nvSpPr>
          <p:cNvPr id="34" name="Shape 32"/>
          <p:cNvSpPr/>
          <p:nvPr/>
        </p:nvSpPr>
        <p:spPr>
          <a:xfrm>
            <a:off x="548640" y="4434840"/>
            <a:ext cx="11247120" cy="1691640"/>
          </a:xfrm>
          <a:prstGeom prst="rect">
            <a:avLst/>
          </a:prstGeom>
          <a:solidFill>
            <a:srgbClr val="21295C"/>
          </a:solidFill>
          <a:ln w="12700">
            <a:solidFill>
              <a:srgbClr val="21295C"/>
            </a:solidFill>
            <a:prstDash val="solid"/>
          </a:ln>
        </p:spPr>
      </p:sp>
      <p:sp>
        <p:nvSpPr>
          <p:cNvPr id="35" name="Text 33"/>
          <p:cNvSpPr/>
          <p:nvPr/>
        </p:nvSpPr>
        <p:spPr>
          <a:xfrm>
            <a:off x="685800" y="4526280"/>
            <a:ext cx="10972800" cy="1508760"/>
          </a:xfrm>
          <a:prstGeom prst="rect">
            <a:avLst/>
          </a:prstGeom>
          <a:noFill/>
          <a:ln/>
        </p:spPr>
        <p:txBody>
          <a:bodyPr wrap="square" lIns="0" tIns="0" rIns="0" bIns="0" rtlCol="0" anchor="t"/>
          <a:lstStyle/>
          <a:p>
            <a:pPr algn="l" indent="0" marL="0">
              <a:buNone/>
            </a:pPr>
            <a:r>
              <a:rPr lang="en-US" sz="1100" dirty="0">
                <a:solidFill>
                  <a:srgbClr val="E2E8F0"/>
                </a:solidFill>
                <a:latin typeface="Consolas" pitchFamily="34" charset="0"/>
                <a:ea typeface="Consolas" pitchFamily="34" charset="-122"/>
                <a:cs typeface="Consolas" pitchFamily="34" charset="-120"/>
              </a:rPr>
              <a:t>// CollaborativeFilteringService.loadAllInteractions()</a:t>
            </a:r>
            <a:endParaRPr lang="en-US" sz="1100" dirty="0"/>
          </a:p>
          <a:p>
            <a:pPr algn="l" indent="0" marL="0">
              <a:buNone/>
            </a:pPr>
            <a:r>
              <a:rPr lang="en-US" sz="1100" dirty="0">
                <a:solidFill>
                  <a:srgbClr val="E2E8F0"/>
                </a:solidFill>
                <a:latin typeface="Consolas" pitchFamily="34" charset="0"/>
                <a:ea typeface="Consolas" pitchFamily="34" charset="-122"/>
                <a:cs typeface="Consolas" pitchFamily="34" charset="-120"/>
              </a:rPr>
              <a:t>val favoritesPerUser = favoritesRoot.documents.map { userDoc -&gt;</a:t>
            </a:r>
            <a:endParaRPr lang="en-US" sz="1100" dirty="0"/>
          </a:p>
          <a:p>
            <a:pPr algn="l" indent="0" marL="0">
              <a:buNone/>
            </a:pPr>
            <a:r>
              <a:rPr lang="en-US" sz="1100" dirty="0">
                <a:solidFill>
                  <a:srgbClr val="E2E8F0"/>
                </a:solidFill>
                <a:latin typeface="Consolas" pitchFamily="34" charset="0"/>
                <a:ea typeface="Consolas" pitchFamily="34" charset="-122"/>
                <a:cs typeface="Consolas" pitchFamily="34" charset="-120"/>
              </a:rPr>
              <a:t>    async {                                          // launched concurrently</a:t>
            </a:r>
            <a:endParaRPr lang="en-US" sz="1100" dirty="0"/>
          </a:p>
          <a:p>
            <a:pPr algn="l" indent="0" marL="0">
              <a:buNone/>
            </a:pPr>
            <a:r>
              <a:rPr lang="en-US" sz="1100" dirty="0">
                <a:solidFill>
                  <a:srgbClr val="E2E8F0"/>
                </a:solidFill>
                <a:latin typeface="Consolas" pitchFamily="34" charset="0"/>
                <a:ea typeface="Consolas" pitchFamily="34" charset="-122"/>
                <a:cs typeface="Consolas" pitchFamily="34" charset="-120"/>
              </a:rPr>
              <a:t>        db.collection("favorites").document(userId)</a:t>
            </a:r>
            <a:endParaRPr lang="en-US" sz="1100" dirty="0"/>
          </a:p>
          <a:p>
            <a:pPr algn="l" indent="0" marL="0">
              <a:buNone/>
            </a:pPr>
            <a:r>
              <a:rPr lang="en-US" sz="1100" dirty="0">
                <a:solidFill>
                  <a:srgbClr val="E2E8F0"/>
                </a:solidFill>
                <a:latin typeface="Consolas" pitchFamily="34" charset="0"/>
                <a:ea typeface="Consolas" pitchFamily="34" charset="-122"/>
                <a:cs typeface="Consolas" pitchFamily="34" charset="-120"/>
              </a:rPr>
              <a:t>          .collection("items").get().await()</a:t>
            </a:r>
            <a:endParaRPr lang="en-US" sz="1100" dirty="0"/>
          </a:p>
          <a:p>
            <a:pPr algn="l" indent="0" marL="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algn="l" indent="0" marL="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algn="l" indent="0" marL="0">
              <a:buNone/>
            </a:pPr>
            <a:r>
              <a:rPr lang="en-US" sz="1100" dirty="0">
                <a:solidFill>
                  <a:srgbClr val="E2E8F0"/>
                </a:solidFill>
                <a:latin typeface="Consolas" pitchFamily="34" charset="0"/>
                <a:ea typeface="Consolas" pitchFamily="34" charset="-122"/>
                <a:cs typeface="Consolas" pitchFamily="34" charset="-120"/>
              </a:rPr>
              <a:t>}</a:t>
            </a:r>
            <a:endParaRPr lang="en-US" sz="1100" dirty="0"/>
          </a:p>
          <a:p>
            <a:pPr algn="l" indent="0" marL="0">
              <a:buNone/>
            </a:pPr>
            <a:r>
              <a:rPr lang="en-US" sz="1100" dirty="0">
                <a:solidFill>
                  <a:srgbClr val="E2E8F0"/>
                </a:solidFill>
                <a:latin typeface="Consolas" pitchFamily="34" charset="0"/>
                <a:ea typeface="Consolas" pitchFamily="34" charset="-122"/>
                <a:cs typeface="Consolas" pitchFamily="34" charset="-120"/>
              </a:rPr>
              <a:t>val all = favoritesPerUser.awaitAll() + historyPerUser.awaitAll()</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65A82"/>
          </a:solidFill>
          <a:ln w="12700">
            <a:solidFill>
              <a:srgbClr val="065A82"/>
            </a:solidFill>
            <a:prstDash val="solid"/>
          </a:ln>
        </p:spPr>
      </p:sp>
      <p:sp>
        <p:nvSpPr>
          <p:cNvPr id="3" name="Text 1"/>
          <p:cNvSpPr/>
          <p:nvPr/>
        </p:nvSpPr>
        <p:spPr>
          <a:xfrm>
            <a:off x="457200" y="320040"/>
            <a:ext cx="11430000" cy="59436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User-Based CF</a:t>
            </a:r>
            <a:endParaRPr lang="en-US" sz="3200" dirty="0"/>
          </a:p>
        </p:txBody>
      </p:sp>
      <p:sp>
        <p:nvSpPr>
          <p:cNvPr id="4" name="Text 2"/>
          <p:cNvSpPr/>
          <p:nvPr/>
        </p:nvSpPr>
        <p:spPr>
          <a:xfrm>
            <a:off x="457200" y="914400"/>
            <a:ext cx="11430000" cy="36576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Find similar users; recommend what they liked</a:t>
            </a:r>
            <a:endParaRPr lang="en-US" sz="1400" dirty="0"/>
          </a:p>
        </p:txBody>
      </p:sp>
      <p:sp>
        <p:nvSpPr>
          <p:cNvPr id="5" name="Text 3"/>
          <p:cNvSpPr/>
          <p:nvPr/>
        </p:nvSpPr>
        <p:spPr>
          <a:xfrm>
            <a:off x="457200" y="6492240"/>
            <a:ext cx="548640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Little Dino · FYP26S123</a:t>
            </a:r>
            <a:endParaRPr lang="en-US" sz="900" dirty="0"/>
          </a:p>
        </p:txBody>
      </p:sp>
      <p:sp>
        <p:nvSpPr>
          <p:cNvPr id="6" name="Shape 4"/>
          <p:cNvSpPr/>
          <p:nvPr/>
        </p:nvSpPr>
        <p:spPr>
          <a:xfrm>
            <a:off x="548640" y="1554480"/>
            <a:ext cx="11247120" cy="1005840"/>
          </a:xfrm>
          <a:prstGeom prst="rect">
            <a:avLst/>
          </a:prstGeom>
          <a:solidFill>
            <a:srgbClr val="FFFFFF"/>
          </a:solidFill>
          <a:ln w="12700">
            <a:solidFill>
              <a:srgbClr val="E2E8F0"/>
            </a:solidFill>
            <a:prstDash val="solid"/>
          </a:ln>
        </p:spPr>
      </p:sp>
      <p:sp>
        <p:nvSpPr>
          <p:cNvPr id="7" name="Text 5"/>
          <p:cNvSpPr/>
          <p:nvPr/>
        </p:nvSpPr>
        <p:spPr>
          <a:xfrm>
            <a:off x="640080" y="1600200"/>
            <a:ext cx="11064240" cy="914400"/>
          </a:xfrm>
          <a:prstGeom prst="rect">
            <a:avLst/>
          </a:prstGeom>
          <a:noFill/>
          <a:ln/>
        </p:spPr>
        <p:txBody>
          <a:bodyPr wrap="square" lIns="0" tIns="0" rIns="0" bIns="0" rtlCol="0" anchor="ctr"/>
          <a:lstStyle/>
          <a:p>
            <a:pPr algn="ctr" indent="0" marL="0">
              <a:buNone/>
            </a:pPr>
            <a:r>
              <a:rPr lang="en-US" sz="1400" dirty="0">
                <a:solidFill>
                  <a:srgbClr val="21295C"/>
                </a:solidFill>
                <a:latin typeface="Consolas" pitchFamily="34" charset="0"/>
                <a:ea typeface="Consolas" pitchFamily="34" charset="-122"/>
                <a:cs typeface="Consolas" pitchFamily="34" charset="-120"/>
              </a:rPr>
              <a:t>score(target, item) =  Σ  sim(target, otherUser) × rating(otherUser, item)</a:t>
            </a:r>
            <a:endParaRPr lang="en-US" sz="1400" dirty="0"/>
          </a:p>
          <a:p>
            <a:pPr algn="ctr" indent="0" marL="0">
              <a:buNone/>
            </a:pPr>
            <a:r>
              <a:rPr lang="en-US" sz="1400" dirty="0">
                <a:solidFill>
                  <a:srgbClr val="21295C"/>
                </a:solidFill>
                <a:latin typeface="Consolas" pitchFamily="34" charset="0"/>
                <a:ea typeface="Consolas" pitchFamily="34" charset="-122"/>
                <a:cs typeface="Consolas" pitchFamily="34" charset="-120"/>
              </a:rPr>
              <a:t>                              ─────────────────────────────────────────</a:t>
            </a:r>
            <a:endParaRPr lang="en-US" sz="1400" dirty="0"/>
          </a:p>
          <a:p>
            <a:pPr algn="ctr" indent="0" marL="0">
              <a:buNone/>
            </a:pPr>
            <a:r>
              <a:rPr lang="en-US" sz="1400" dirty="0">
                <a:solidFill>
                  <a:srgbClr val="21295C"/>
                </a:solidFill>
                <a:latin typeface="Consolas" pitchFamily="34" charset="0"/>
                <a:ea typeface="Consolas" pitchFamily="34" charset="-122"/>
                <a:cs typeface="Consolas" pitchFamily="34" charset="-120"/>
              </a:rPr>
              <a:t>                                              Σ sim(target, otherUser)</a:t>
            </a:r>
            <a:endParaRPr lang="en-US" sz="1400" dirty="0"/>
          </a:p>
        </p:txBody>
      </p:sp>
      <p:sp>
        <p:nvSpPr>
          <p:cNvPr id="8" name="Shape 6"/>
          <p:cNvSpPr/>
          <p:nvPr/>
        </p:nvSpPr>
        <p:spPr>
          <a:xfrm>
            <a:off x="548640" y="2743200"/>
            <a:ext cx="7315200" cy="3200400"/>
          </a:xfrm>
          <a:prstGeom prst="rect">
            <a:avLst/>
          </a:prstGeom>
          <a:solidFill>
            <a:srgbClr val="21295C"/>
          </a:solidFill>
          <a:ln w="12700">
            <a:solidFill>
              <a:srgbClr val="21295C"/>
            </a:solidFill>
            <a:prstDash val="solid"/>
          </a:ln>
        </p:spPr>
      </p:sp>
      <p:sp>
        <p:nvSpPr>
          <p:cNvPr id="9" name="Text 7"/>
          <p:cNvSpPr/>
          <p:nvPr/>
        </p:nvSpPr>
        <p:spPr>
          <a:xfrm>
            <a:off x="685800" y="2834640"/>
            <a:ext cx="7040880" cy="3017520"/>
          </a:xfrm>
          <a:prstGeom prst="rect">
            <a:avLst/>
          </a:prstGeom>
          <a:noFill/>
          <a:ln/>
        </p:spPr>
        <p:txBody>
          <a:bodyPr wrap="square" lIns="0" tIns="0" rIns="0" bIns="0" rtlCol="0" anchor="t"/>
          <a:lstStyle/>
          <a:p>
            <a:pPr algn="l" indent="0" marL="0">
              <a:buNone/>
            </a:pPr>
            <a:r>
              <a:rPr lang="en-US" sz="1100" dirty="0">
                <a:solidFill>
                  <a:srgbClr val="E2E8F0"/>
                </a:solidFill>
                <a:latin typeface="Consolas" pitchFamily="34" charset="0"/>
                <a:ea typeface="Consolas" pitchFamily="34" charset="-122"/>
                <a:cs typeface="Consolas" pitchFamily="34" charset="-120"/>
              </a:rPr>
              <a:t>for ((otherUserId, otherVector) in userItemMatrix) {</a:t>
            </a:r>
            <a:endParaRPr lang="en-US" sz="1100" dirty="0"/>
          </a:p>
          <a:p>
            <a:pPr algn="l" indent="0" marL="0">
              <a:buNone/>
            </a:pPr>
            <a:r>
              <a:rPr lang="en-US" sz="1100" dirty="0">
                <a:solidFill>
                  <a:srgbClr val="E2E8F0"/>
                </a:solidFill>
                <a:latin typeface="Consolas" pitchFamily="34" charset="0"/>
                <a:ea typeface="Consolas" pitchFamily="34" charset="-122"/>
                <a:cs typeface="Consolas" pitchFamily="34" charset="-120"/>
              </a:rPr>
              <a:t>    if (otherUserId == targetUserId) continue</a:t>
            </a:r>
            <a:endParaRPr lang="en-US" sz="1100" dirty="0"/>
          </a:p>
          <a:p>
            <a:pPr algn="l" indent="0" marL="0">
              <a:buNone/>
            </a:pPr>
            <a:r>
              <a:rPr lang="en-US" sz="1100" dirty="0">
                <a:solidFill>
                  <a:srgbClr val="E2E8F0"/>
                </a:solidFill>
                <a:latin typeface="Consolas" pitchFamily="34" charset="0"/>
                <a:ea typeface="Consolas" pitchFamily="34" charset="-122"/>
                <a:cs typeface="Consolas" pitchFamily="34" charset="-120"/>
              </a:rPr>
              <a:t>    val similarity = cosineSimilarity(targetVector, otherVector)</a:t>
            </a:r>
            <a:endParaRPr lang="en-US" sz="1100" dirty="0"/>
          </a:p>
          <a:p>
            <a:pPr algn="l" indent="0" marL="0">
              <a:buNone/>
            </a:pPr>
            <a:r>
              <a:rPr lang="en-US" sz="1100" dirty="0">
                <a:solidFill>
                  <a:srgbClr val="E2E8F0"/>
                </a:solidFill>
                <a:latin typeface="Consolas" pitchFamily="34" charset="0"/>
                <a:ea typeface="Consolas" pitchFamily="34" charset="-122"/>
                <a:cs typeface="Consolas" pitchFamily="34" charset="-120"/>
              </a:rPr>
              <a:t>    if (similarity &lt;= 0.0) continue</a:t>
            </a:r>
            <a:endParaRPr lang="en-US" sz="1100" dirty="0"/>
          </a:p>
          <a:p>
            <a:pPr algn="l" indent="0" marL="0">
              <a:buNone/>
            </a:pPr>
            <a:r>
              <a:rPr lang="en-US" sz="1100" dirty="0">
                <a:solidFill>
                  <a:srgbClr val="E2E8F0"/>
                </a:solidFill>
                <a:latin typeface="Consolas" pitchFamily="34" charset="0"/>
                <a:ea typeface="Consolas" pitchFamily="34" charset="-122"/>
                <a:cs typeface="Consolas" pitchFamily="34" charset="-120"/>
              </a:rPr>
              <a:t>    for ((itemId, rating) in otherVector) {</a:t>
            </a:r>
            <a:endParaRPr lang="en-US" sz="1100" dirty="0"/>
          </a:p>
          <a:p>
            <a:pPr algn="l" indent="0" marL="0">
              <a:buNone/>
            </a:pPr>
            <a:r>
              <a:rPr lang="en-US" sz="1100" dirty="0">
                <a:solidFill>
                  <a:srgbClr val="E2E8F0"/>
                </a:solidFill>
                <a:latin typeface="Consolas" pitchFamily="34" charset="0"/>
                <a:ea typeface="Consolas" pitchFamily="34" charset="-122"/>
                <a:cs typeface="Consolas" pitchFamily="34" charset="-120"/>
              </a:rPr>
              <a:t>        if (itemId in seenItemIds) continue                         // never recommend already-seen</a:t>
            </a:r>
            <a:endParaRPr lang="en-US" sz="1100" dirty="0"/>
          </a:p>
          <a:p>
            <a:pPr algn="l" indent="0" marL="0">
              <a:buNone/>
            </a:pPr>
            <a:r>
              <a:rPr lang="en-US" sz="1100" dirty="0">
                <a:solidFill>
                  <a:srgbClr val="E2E8F0"/>
                </a:solidFill>
                <a:latin typeface="Consolas" pitchFamily="34" charset="0"/>
                <a:ea typeface="Consolas" pitchFamily="34" charset="-122"/>
                <a:cs typeface="Consolas" pitchFamily="34" charset="-120"/>
              </a:rPr>
              <a:t>        scores[itemId] = (scores[itemId] ?: 0.0) + (similarity * rating)</a:t>
            </a:r>
            <a:endParaRPr lang="en-US" sz="1100" dirty="0"/>
          </a:p>
          <a:p>
            <a:pPr algn="l" indent="0" marL="0">
              <a:buNone/>
            </a:pPr>
            <a:r>
              <a:rPr lang="en-US" sz="1100" dirty="0">
                <a:solidFill>
                  <a:srgbClr val="E2E8F0"/>
                </a:solidFill>
                <a:latin typeface="Consolas" pitchFamily="34" charset="0"/>
                <a:ea typeface="Consolas" pitchFamily="34" charset="-122"/>
                <a:cs typeface="Consolas" pitchFamily="34" charset="-120"/>
              </a:rPr>
              <a:t>        similaritySums[itemId] = (similaritySums[itemId] ?: 0.0) + similarity</a:t>
            </a:r>
            <a:endParaRPr lang="en-US" sz="1100" dirty="0"/>
          </a:p>
          <a:p>
            <a:pPr algn="l" indent="0" marL="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algn="l" indent="0" marL="0">
              <a:buNone/>
            </a:pPr>
            <a:r>
              <a:rPr lang="en-US" sz="1100" dirty="0">
                <a:solidFill>
                  <a:srgbClr val="E2E8F0"/>
                </a:solidFill>
                <a:latin typeface="Consolas" pitchFamily="34" charset="0"/>
                <a:ea typeface="Consolas" pitchFamily="34" charset="-122"/>
                <a:cs typeface="Consolas" pitchFamily="34" charset="-120"/>
              </a:rPr>
              <a:t>}</a:t>
            </a:r>
            <a:endParaRPr lang="en-US" sz="1100" dirty="0"/>
          </a:p>
          <a:p>
            <a:pPr algn="l" indent="0" marL="0">
              <a:buNone/>
            </a:pPr>
            <a:r>
              <a:rPr lang="en-US" sz="1100" dirty="0">
                <a:solidFill>
                  <a:srgbClr val="E2E8F0"/>
                </a:solidFill>
                <a:latin typeface="Consolas" pitchFamily="34" charset="0"/>
                <a:ea typeface="Consolas" pitchFamily="34" charset="-122"/>
                <a:cs typeface="Consolas" pitchFamily="34" charset="-120"/>
              </a:rPr>
              <a:t>return scores.mapValues { (id, s) -&gt; s / (similaritySums[id] ?: 1.0) }   // normalize</a:t>
            </a:r>
            <a:endParaRPr lang="en-US" sz="1100" dirty="0"/>
          </a:p>
        </p:txBody>
      </p:sp>
      <p:sp>
        <p:nvSpPr>
          <p:cNvPr id="10" name="Shape 8"/>
          <p:cNvSpPr/>
          <p:nvPr/>
        </p:nvSpPr>
        <p:spPr>
          <a:xfrm>
            <a:off x="8092440" y="2743200"/>
            <a:ext cx="3703320" cy="3200400"/>
          </a:xfrm>
          <a:prstGeom prst="rect">
            <a:avLst/>
          </a:prstGeom>
          <a:solidFill>
            <a:srgbClr val="065A82"/>
          </a:solidFill>
          <a:ln w="12700">
            <a:solidFill>
              <a:srgbClr val="065A82"/>
            </a:solidFill>
            <a:prstDash val="solid"/>
          </a:ln>
        </p:spPr>
      </p:sp>
      <p:sp>
        <p:nvSpPr>
          <p:cNvPr id="11" name="Text 9"/>
          <p:cNvSpPr/>
          <p:nvPr/>
        </p:nvSpPr>
        <p:spPr>
          <a:xfrm>
            <a:off x="8275320" y="2880360"/>
            <a:ext cx="3383280" cy="365760"/>
          </a:xfrm>
          <a:prstGeom prst="rect">
            <a:avLst/>
          </a:prstGeom>
          <a:noFill/>
          <a:ln/>
        </p:spPr>
        <p:txBody>
          <a:bodyPr wrap="square" lIns="0" tIns="0" rIns="0" bIns="0" rtlCol="0" anchor="ctr"/>
          <a:lstStyle/>
          <a:p>
            <a:pPr indent="0" marL="0">
              <a:buNone/>
            </a:pPr>
            <a:r>
              <a:rPr lang="en-US" sz="1400" b="1" dirty="0">
                <a:solidFill>
                  <a:srgbClr val="F9E795"/>
                </a:solidFill>
                <a:latin typeface="Cambria" pitchFamily="34" charset="0"/>
                <a:ea typeface="Cambria" pitchFamily="34" charset="-122"/>
                <a:cs typeface="Cambria" pitchFamily="34" charset="-120"/>
              </a:rPr>
              <a:t>Key choices</a:t>
            </a:r>
            <a:endParaRPr lang="en-US" sz="1400" dirty="0"/>
          </a:p>
        </p:txBody>
      </p:sp>
      <p:sp>
        <p:nvSpPr>
          <p:cNvPr id="12" name="Text 10"/>
          <p:cNvSpPr/>
          <p:nvPr/>
        </p:nvSpPr>
        <p:spPr>
          <a:xfrm>
            <a:off x="8275320" y="3291840"/>
            <a:ext cx="3383280" cy="2606040"/>
          </a:xfrm>
          <a:prstGeom prst="rect">
            <a:avLst/>
          </a:prstGeom>
          <a:noFill/>
          <a:ln/>
        </p:spPr>
        <p:txBody>
          <a:bodyPr wrap="square" lIns="0" tIns="0" rIns="0" bIns="0" rtlCol="0" anchor="t"/>
          <a:lstStyle/>
          <a:p>
            <a:pPr marL="342900" indent="-342900">
              <a:spcAft>
                <a:spcPts val="800"/>
              </a:spcAft>
              <a:buSzPct val="100000"/>
              <a:buChar char="•"/>
            </a:pPr>
            <a:r>
              <a:rPr lang="en-US" sz="1100" dirty="0">
                <a:solidFill>
                  <a:srgbClr val="FFFFFF"/>
                </a:solidFill>
                <a:latin typeface="Calibri" pitchFamily="34" charset="0"/>
                <a:ea typeface="Calibri" pitchFamily="34" charset="-122"/>
                <a:cs typeface="Calibri" pitchFamily="34" charset="-120"/>
              </a:rPr>
              <a:t>Skip self in the loop — comparing target to itself yields 1.0 and biases nothing useful.</a:t>
            </a:r>
            <a:endParaRPr lang="en-US" sz="1100" dirty="0"/>
          </a:p>
          <a:p>
            <a:pPr marL="342900" indent="-342900">
              <a:spcAft>
                <a:spcPts val="800"/>
              </a:spcAft>
              <a:buSzPct val="100000"/>
              <a:buChar char="•"/>
            </a:pPr>
            <a:r>
              <a:rPr lang="en-US" sz="1100" dirty="0">
                <a:solidFill>
                  <a:srgbClr val="FFFFFF"/>
                </a:solidFill>
                <a:latin typeface="Calibri" pitchFamily="34" charset="0"/>
                <a:ea typeface="Calibri" pitchFamily="34" charset="-122"/>
                <a:cs typeface="Calibri" pitchFamily="34" charset="-120"/>
              </a:rPr>
              <a:t>Skip non-positive cosine — saves work, removes noise from orthogonal users.</a:t>
            </a:r>
            <a:endParaRPr lang="en-US" sz="1100" dirty="0"/>
          </a:p>
          <a:p>
            <a:pPr marL="342900" indent="-342900">
              <a:spcAft>
                <a:spcPts val="800"/>
              </a:spcAft>
              <a:buSzPct val="100000"/>
              <a:buChar char="•"/>
            </a:pPr>
            <a:r>
              <a:rPr lang="en-US" sz="1100" dirty="0">
                <a:solidFill>
                  <a:srgbClr val="FFFFFF"/>
                </a:solidFill>
                <a:latin typeface="Calibri" pitchFamily="34" charset="0"/>
                <a:ea typeface="Calibri" pitchFamily="34" charset="-122"/>
                <a:cs typeface="Calibri" pitchFamily="34" charset="-120"/>
              </a:rPr>
              <a:t>Normalize by Σ sim — items rated by many similar users don't beat items rated by one extremely-similar user.</a:t>
            </a:r>
            <a:endParaRPr lang="en-US" sz="1100" dirty="0"/>
          </a:p>
          <a:p>
            <a:pPr marL="342900" indent="-342900">
              <a:spcAft>
                <a:spcPts val="800"/>
              </a:spcAft>
              <a:buSzPct val="100000"/>
              <a:buChar char="•"/>
            </a:pPr>
            <a:r>
              <a:rPr lang="en-US" sz="1100" dirty="0">
                <a:solidFill>
                  <a:srgbClr val="FFFFFF"/>
                </a:solidFill>
                <a:latin typeface="Calibri" pitchFamily="34" charset="0"/>
                <a:ea typeface="Calibri" pitchFamily="34" charset="-122"/>
                <a:cs typeface="Calibri" pitchFamily="34" charset="-120"/>
              </a:rPr>
              <a:t>seenItemIds early-exit — never recommend what the child has already engaged with.</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65A82"/>
          </a:solidFill>
          <a:ln w="12700">
            <a:solidFill>
              <a:srgbClr val="065A82"/>
            </a:solidFill>
            <a:prstDash val="solid"/>
          </a:ln>
        </p:spPr>
      </p:sp>
      <p:sp>
        <p:nvSpPr>
          <p:cNvPr id="3" name="Text 1"/>
          <p:cNvSpPr/>
          <p:nvPr/>
        </p:nvSpPr>
        <p:spPr>
          <a:xfrm>
            <a:off x="457200" y="320040"/>
            <a:ext cx="11430000" cy="59436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Item-Based CF</a:t>
            </a:r>
            <a:endParaRPr lang="en-US" sz="3200" dirty="0"/>
          </a:p>
        </p:txBody>
      </p:sp>
      <p:sp>
        <p:nvSpPr>
          <p:cNvPr id="4" name="Text 2"/>
          <p:cNvSpPr/>
          <p:nvPr/>
        </p:nvSpPr>
        <p:spPr>
          <a:xfrm>
            <a:off x="457200" y="914400"/>
            <a:ext cx="11430000" cy="36576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Find items similar to what the child already likes</a:t>
            </a:r>
            <a:endParaRPr lang="en-US" sz="1400" dirty="0"/>
          </a:p>
        </p:txBody>
      </p:sp>
      <p:sp>
        <p:nvSpPr>
          <p:cNvPr id="5" name="Text 3"/>
          <p:cNvSpPr/>
          <p:nvPr/>
        </p:nvSpPr>
        <p:spPr>
          <a:xfrm>
            <a:off x="457200" y="6492240"/>
            <a:ext cx="548640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Little Dino · FYP26S123</a:t>
            </a:r>
            <a:endParaRPr lang="en-US" sz="900" dirty="0"/>
          </a:p>
        </p:txBody>
      </p:sp>
      <p:sp>
        <p:nvSpPr>
          <p:cNvPr id="6" name="Shape 4"/>
          <p:cNvSpPr/>
          <p:nvPr/>
        </p:nvSpPr>
        <p:spPr>
          <a:xfrm>
            <a:off x="548640" y="1554480"/>
            <a:ext cx="11247120" cy="1005840"/>
          </a:xfrm>
          <a:prstGeom prst="rect">
            <a:avLst/>
          </a:prstGeom>
          <a:solidFill>
            <a:srgbClr val="FFFFFF"/>
          </a:solidFill>
          <a:ln w="12700">
            <a:solidFill>
              <a:srgbClr val="E2E8F0"/>
            </a:solidFill>
            <a:prstDash val="solid"/>
          </a:ln>
        </p:spPr>
      </p:sp>
      <p:sp>
        <p:nvSpPr>
          <p:cNvPr id="7" name="Text 5"/>
          <p:cNvSpPr/>
          <p:nvPr/>
        </p:nvSpPr>
        <p:spPr>
          <a:xfrm>
            <a:off x="640080" y="1600200"/>
            <a:ext cx="11064240" cy="914400"/>
          </a:xfrm>
          <a:prstGeom prst="rect">
            <a:avLst/>
          </a:prstGeom>
          <a:noFill/>
          <a:ln/>
        </p:spPr>
        <p:txBody>
          <a:bodyPr wrap="square" lIns="0" tIns="0" rIns="0" bIns="0" rtlCol="0" anchor="ctr"/>
          <a:lstStyle/>
          <a:p>
            <a:pPr algn="ctr" indent="0" marL="0">
              <a:buNone/>
            </a:pPr>
            <a:r>
              <a:rPr lang="en-US" sz="1300" dirty="0">
                <a:solidFill>
                  <a:srgbClr val="21295C"/>
                </a:solidFill>
                <a:latin typeface="Consolas" pitchFamily="34" charset="0"/>
                <a:ea typeface="Consolas" pitchFamily="34" charset="-122"/>
                <a:cs typeface="Consolas" pitchFamily="34" charset="-120"/>
              </a:rPr>
              <a:t>score(target, candidate) =  Σ  sim(seenItem, candidate) × weight(target, seenItem)</a:t>
            </a:r>
            <a:endParaRPr lang="en-US" sz="1300" dirty="0"/>
          </a:p>
          <a:p>
            <a:pPr algn="ctr" indent="0" marL="0">
              <a:buNone/>
            </a:pPr>
            <a:r>
              <a:rPr lang="en-US" sz="1300" dirty="0">
                <a:solidFill>
                  <a:srgbClr val="21295C"/>
                </a:solidFill>
                <a:latin typeface="Consolas" pitchFamily="34" charset="0"/>
                <a:ea typeface="Consolas" pitchFamily="34" charset="-122"/>
                <a:cs typeface="Consolas" pitchFamily="34" charset="-120"/>
              </a:rPr>
              <a:t>                                       ───────────────────────────────────────────</a:t>
            </a:r>
            <a:endParaRPr lang="en-US" sz="1300" dirty="0"/>
          </a:p>
          <a:p>
            <a:pPr algn="ctr" indent="0" marL="0">
              <a:buNone/>
            </a:pPr>
            <a:r>
              <a:rPr lang="en-US" sz="1300" dirty="0">
                <a:solidFill>
                  <a:srgbClr val="21295C"/>
                </a:solidFill>
                <a:latin typeface="Consolas" pitchFamily="34" charset="0"/>
                <a:ea typeface="Consolas" pitchFamily="34" charset="-122"/>
                <a:cs typeface="Consolas" pitchFamily="34" charset="-120"/>
              </a:rPr>
              <a:t>                                                       Σ sim(seenItem, candidate)</a:t>
            </a:r>
            <a:endParaRPr lang="en-US" sz="1300" dirty="0"/>
          </a:p>
        </p:txBody>
      </p:sp>
      <p:sp>
        <p:nvSpPr>
          <p:cNvPr id="8" name="Shape 6"/>
          <p:cNvSpPr/>
          <p:nvPr/>
        </p:nvSpPr>
        <p:spPr>
          <a:xfrm>
            <a:off x="548640" y="2743200"/>
            <a:ext cx="7315200" cy="3200400"/>
          </a:xfrm>
          <a:prstGeom prst="rect">
            <a:avLst/>
          </a:prstGeom>
          <a:solidFill>
            <a:srgbClr val="21295C"/>
          </a:solidFill>
          <a:ln w="12700">
            <a:solidFill>
              <a:srgbClr val="21295C"/>
            </a:solidFill>
            <a:prstDash val="solid"/>
          </a:ln>
        </p:spPr>
      </p:sp>
      <p:sp>
        <p:nvSpPr>
          <p:cNvPr id="9" name="Text 7"/>
          <p:cNvSpPr/>
          <p:nvPr/>
        </p:nvSpPr>
        <p:spPr>
          <a:xfrm>
            <a:off x="685800" y="2834640"/>
            <a:ext cx="7040880" cy="3017520"/>
          </a:xfrm>
          <a:prstGeom prst="rect">
            <a:avLst/>
          </a:prstGeom>
          <a:noFill/>
          <a:ln/>
        </p:spPr>
        <p:txBody>
          <a:bodyPr wrap="square" lIns="0" tIns="0" rIns="0" bIns="0" rtlCol="0" anchor="t"/>
          <a:lstStyle/>
          <a:p>
            <a:pPr algn="l" indent="0" marL="0">
              <a:buNone/>
            </a:pPr>
            <a:r>
              <a:rPr lang="en-US" sz="1000" dirty="0">
                <a:solidFill>
                  <a:srgbClr val="E2E8F0"/>
                </a:solidFill>
                <a:latin typeface="Consolas" pitchFamily="34" charset="0"/>
                <a:ea typeface="Consolas" pitchFamily="34" charset="-122"/>
                <a:cs typeface="Consolas" pitchFamily="34" charset="-120"/>
              </a:rPr>
              <a:t>// First: transpose the matrix so similarity is computed between ITEMS</a:t>
            </a:r>
            <a:endParaRPr lang="en-US" sz="1000" dirty="0"/>
          </a:p>
          <a:p>
            <a:pPr algn="l" indent="0" marL="0">
              <a:buNone/>
            </a:pPr>
            <a:r>
              <a:rPr lang="en-US" sz="1000" dirty="0">
                <a:solidFill>
                  <a:srgbClr val="E2E8F0"/>
                </a:solidFill>
                <a:latin typeface="Consolas" pitchFamily="34" charset="0"/>
                <a:ea typeface="Consolas" pitchFamily="34" charset="-122"/>
                <a:cs typeface="Consolas" pitchFamily="34" charset="-120"/>
              </a:rPr>
              <a:t>val itemUserMatrix = buildItemUserMatrix(userItemMatrix)</a:t>
            </a:r>
            <a:endParaRPr lang="en-US" sz="1000" dirty="0"/>
          </a:p>
          <a:p>
            <a:pPr algn="l" indent="0" marL="0">
              <a:buNone/>
            </a:pPr>
            <a:endParaRPr lang="en-US" sz="1000" dirty="0"/>
          </a:p>
          <a:p>
            <a:pPr algn="l" indent="0" marL="0">
              <a:buNone/>
            </a:pPr>
            <a:r>
              <a:rPr lang="en-US" sz="1000" dirty="0">
                <a:solidFill>
                  <a:srgbClr val="E2E8F0"/>
                </a:solidFill>
                <a:latin typeface="Consolas" pitchFamily="34" charset="0"/>
                <a:ea typeface="Consolas" pitchFamily="34" charset="-122"/>
                <a:cs typeface="Consolas" pitchFamily="34" charset="-120"/>
              </a:rPr>
              <a:t>for ((seenItemId, seenWeight) in targetVector) {                 // items the child liked</a:t>
            </a:r>
            <a:endParaRPr lang="en-US" sz="1000" dirty="0"/>
          </a:p>
          <a:p>
            <a:pPr algn="l" indent="0" marL="0">
              <a:buNone/>
            </a:pPr>
            <a:r>
              <a:rPr lang="en-US" sz="1000" dirty="0">
                <a:solidFill>
                  <a:srgbClr val="E2E8F0"/>
                </a:solidFill>
                <a:latin typeface="Consolas" pitchFamily="34" charset="0"/>
                <a:ea typeface="Consolas" pitchFamily="34" charset="-122"/>
                <a:cs typeface="Consolas" pitchFamily="34" charset="-120"/>
              </a:rPr>
              <a:t>    val seenItemVector = itemUserMatrix[seenItemId] ?: continue</a:t>
            </a:r>
            <a:endParaRPr lang="en-US" sz="1000" dirty="0"/>
          </a:p>
          <a:p>
            <a:pPr algn="l" indent="0" marL="0">
              <a:buNone/>
            </a:pPr>
            <a:r>
              <a:rPr lang="en-US" sz="1000" dirty="0">
                <a:solidFill>
                  <a:srgbClr val="E2E8F0"/>
                </a:solidFill>
                <a:latin typeface="Consolas" pitchFamily="34" charset="0"/>
                <a:ea typeface="Consolas" pitchFamily="34" charset="-122"/>
                <a:cs typeface="Consolas" pitchFamily="34" charset="-120"/>
              </a:rPr>
              <a:t>    for ((candidateItemId, candidateVector) in itemUserMatrix) { // every other item</a:t>
            </a:r>
            <a:endParaRPr lang="en-US" sz="1000" dirty="0"/>
          </a:p>
          <a:p>
            <a:pPr algn="l" indent="0" marL="0">
              <a:buNone/>
            </a:pPr>
            <a:r>
              <a:rPr lang="en-US" sz="1000" dirty="0">
                <a:solidFill>
                  <a:srgbClr val="E2E8F0"/>
                </a:solidFill>
                <a:latin typeface="Consolas" pitchFamily="34" charset="0"/>
                <a:ea typeface="Consolas" pitchFamily="34" charset="-122"/>
                <a:cs typeface="Consolas" pitchFamily="34" charset="-120"/>
              </a:rPr>
              <a:t>        if (candidateItemId == seenItemId) continue</a:t>
            </a:r>
            <a:endParaRPr lang="en-US" sz="1000" dirty="0"/>
          </a:p>
          <a:p>
            <a:pPr algn="l" indent="0" marL="0">
              <a:buNone/>
            </a:pPr>
            <a:r>
              <a:rPr lang="en-US" sz="1000" dirty="0">
                <a:solidFill>
                  <a:srgbClr val="E2E8F0"/>
                </a:solidFill>
                <a:latin typeface="Consolas" pitchFamily="34" charset="0"/>
                <a:ea typeface="Consolas" pitchFamily="34" charset="-122"/>
                <a:cs typeface="Consolas" pitchFamily="34" charset="-120"/>
              </a:rPr>
              <a:t>        if (candidateItemId in seenItemIds) continue</a:t>
            </a:r>
            <a:endParaRPr lang="en-US" sz="1000" dirty="0"/>
          </a:p>
          <a:p>
            <a:pPr algn="l" indent="0" marL="0">
              <a:buNone/>
            </a:pPr>
            <a:r>
              <a:rPr lang="en-US" sz="1000" dirty="0">
                <a:solidFill>
                  <a:srgbClr val="E2E8F0"/>
                </a:solidFill>
                <a:latin typeface="Consolas" pitchFamily="34" charset="0"/>
                <a:ea typeface="Consolas" pitchFamily="34" charset="-122"/>
                <a:cs typeface="Consolas" pitchFamily="34" charset="-120"/>
              </a:rPr>
              <a:t>        val similarity = cosineSimilarity(seenItemVector, candidateVector)</a:t>
            </a:r>
            <a:endParaRPr lang="en-US" sz="1000" dirty="0"/>
          </a:p>
          <a:p>
            <a:pPr algn="l" indent="0" marL="0">
              <a:buNone/>
            </a:pPr>
            <a:r>
              <a:rPr lang="en-US" sz="1000" dirty="0">
                <a:solidFill>
                  <a:srgbClr val="E2E8F0"/>
                </a:solidFill>
                <a:latin typeface="Consolas" pitchFamily="34" charset="0"/>
                <a:ea typeface="Consolas" pitchFamily="34" charset="-122"/>
                <a:cs typeface="Consolas" pitchFamily="34" charset="-120"/>
              </a:rPr>
              <a:t>        if (similarity &lt;= 0.0) continue</a:t>
            </a:r>
            <a:endParaRPr lang="en-US" sz="1000" dirty="0"/>
          </a:p>
          <a:p>
            <a:pPr algn="l" indent="0" marL="0">
              <a:buNone/>
            </a:pPr>
            <a:r>
              <a:rPr lang="en-US" sz="1000" dirty="0">
                <a:solidFill>
                  <a:srgbClr val="E2E8F0"/>
                </a:solidFill>
                <a:latin typeface="Consolas" pitchFamily="34" charset="0"/>
                <a:ea typeface="Consolas" pitchFamily="34" charset="-122"/>
                <a:cs typeface="Consolas" pitchFamily="34" charset="-120"/>
              </a:rPr>
              <a:t>        scores[candidateItemId] = (scores[candidateItemId] ?: 0.0) + (similarity * seenWeight)</a:t>
            </a:r>
            <a:endParaRPr lang="en-US" sz="1000" dirty="0"/>
          </a:p>
          <a:p>
            <a:pPr algn="l" indent="0" marL="0">
              <a:buNone/>
            </a:pPr>
            <a:r>
              <a:rPr lang="en-US" sz="1000" dirty="0">
                <a:solidFill>
                  <a:srgbClr val="E2E8F0"/>
                </a:solidFill>
                <a:latin typeface="Consolas" pitchFamily="34" charset="0"/>
                <a:ea typeface="Consolas" pitchFamily="34" charset="-122"/>
                <a:cs typeface="Consolas" pitchFamily="34" charset="-120"/>
              </a:rPr>
              <a:t>        ...</a:t>
            </a:r>
            <a:endParaRPr lang="en-US" sz="1000" dirty="0"/>
          </a:p>
          <a:p>
            <a:pPr algn="l" indent="0" marL="0">
              <a:buNone/>
            </a:pPr>
            <a:r>
              <a:rPr lang="en-US" sz="1000" dirty="0">
                <a:solidFill>
                  <a:srgbClr val="E2E8F0"/>
                </a:solidFill>
                <a:latin typeface="Consolas" pitchFamily="34" charset="0"/>
                <a:ea typeface="Consolas" pitchFamily="34" charset="-122"/>
                <a:cs typeface="Consolas" pitchFamily="34" charset="-120"/>
              </a:rPr>
              <a:t>    }</a:t>
            </a:r>
            <a:endParaRPr lang="en-US" sz="1000" dirty="0"/>
          </a:p>
          <a:p>
            <a:pPr algn="l" indent="0" marL="0">
              <a:buNone/>
            </a:pPr>
            <a:r>
              <a:rPr lang="en-US" sz="1000" dirty="0">
                <a:solidFill>
                  <a:srgbClr val="E2E8F0"/>
                </a:solidFill>
                <a:latin typeface="Consolas" pitchFamily="34" charset="0"/>
                <a:ea typeface="Consolas" pitchFamily="34" charset="-122"/>
                <a:cs typeface="Consolas" pitchFamily="34" charset="-120"/>
              </a:rPr>
              <a:t>}</a:t>
            </a:r>
            <a:endParaRPr lang="en-US" sz="1000" dirty="0"/>
          </a:p>
        </p:txBody>
      </p:sp>
      <p:sp>
        <p:nvSpPr>
          <p:cNvPr id="10" name="Shape 8"/>
          <p:cNvSpPr/>
          <p:nvPr/>
        </p:nvSpPr>
        <p:spPr>
          <a:xfrm>
            <a:off x="8092440" y="2743200"/>
            <a:ext cx="3703320" cy="3200400"/>
          </a:xfrm>
          <a:prstGeom prst="rect">
            <a:avLst/>
          </a:prstGeom>
          <a:solidFill>
            <a:srgbClr val="1C7293"/>
          </a:solidFill>
          <a:ln w="12700">
            <a:solidFill>
              <a:srgbClr val="1C7293"/>
            </a:solidFill>
            <a:prstDash val="solid"/>
          </a:ln>
        </p:spPr>
      </p:sp>
      <p:sp>
        <p:nvSpPr>
          <p:cNvPr id="11" name="Text 9"/>
          <p:cNvSpPr/>
          <p:nvPr/>
        </p:nvSpPr>
        <p:spPr>
          <a:xfrm>
            <a:off x="8275320" y="2880360"/>
            <a:ext cx="3383280" cy="365760"/>
          </a:xfrm>
          <a:prstGeom prst="rect">
            <a:avLst/>
          </a:prstGeom>
          <a:noFill/>
          <a:ln/>
        </p:spPr>
        <p:txBody>
          <a:bodyPr wrap="square" lIns="0" tIns="0" rIns="0" bIns="0" rtlCol="0" anchor="ctr"/>
          <a:lstStyle/>
          <a:p>
            <a:pPr indent="0" marL="0">
              <a:buNone/>
            </a:pPr>
            <a:r>
              <a:rPr lang="en-US" sz="1400" b="1" dirty="0">
                <a:solidFill>
                  <a:srgbClr val="F9E795"/>
                </a:solidFill>
                <a:latin typeface="Cambria" pitchFamily="34" charset="0"/>
                <a:ea typeface="Cambria" pitchFamily="34" charset="-122"/>
                <a:cs typeface="Cambria" pitchFamily="34" charset="-120"/>
              </a:rPr>
              <a:t>Why item-based ≠ user-based</a:t>
            </a:r>
            <a:endParaRPr lang="en-US" sz="1400" dirty="0"/>
          </a:p>
        </p:txBody>
      </p:sp>
      <p:sp>
        <p:nvSpPr>
          <p:cNvPr id="12" name="Text 10"/>
          <p:cNvSpPr/>
          <p:nvPr/>
        </p:nvSpPr>
        <p:spPr>
          <a:xfrm>
            <a:off x="8275320" y="3291840"/>
            <a:ext cx="3383280" cy="2606040"/>
          </a:xfrm>
          <a:prstGeom prst="rect">
            <a:avLst/>
          </a:prstGeom>
          <a:noFill/>
          <a:ln/>
        </p:spPr>
        <p:txBody>
          <a:bodyPr wrap="square" lIns="0" tIns="0" rIns="0" bIns="0" rtlCol="0" anchor="t"/>
          <a:lstStyle/>
          <a:p>
            <a:pPr indent="0" marL="0">
              <a:buNone/>
            </a:pPr>
            <a:r>
              <a:rPr lang="en-US" sz="1200" i="1" dirty="0">
                <a:solidFill>
                  <a:srgbClr val="FFFFFF"/>
                </a:solidFill>
                <a:latin typeface="Calibri" pitchFamily="34" charset="0"/>
                <a:ea typeface="Calibri" pitchFamily="34" charset="-122"/>
                <a:cs typeface="Calibri" pitchFamily="34" charset="-120"/>
              </a:rPr>
              <a:t>User-based: 'children like you also liked X'.</a:t>
            </a:r>
            <a:endParaRPr lang="en-US" sz="1200" dirty="0"/>
          </a:p>
          <a:p>
            <a:pPr indent="0" marL="0">
              <a:buNone/>
            </a:pPr>
            <a:endParaRPr lang="en-US" sz="1200" dirty="0"/>
          </a:p>
          <a:p>
            <a:pPr indent="0" marL="0">
              <a:buNone/>
            </a:pPr>
            <a:r>
              <a:rPr lang="en-US" sz="1200" i="1" dirty="0">
                <a:solidFill>
                  <a:srgbClr val="FFFFFF"/>
                </a:solidFill>
                <a:latin typeface="Calibri" pitchFamily="34" charset="0"/>
                <a:ea typeface="Calibri" pitchFamily="34" charset="-122"/>
                <a:cs typeface="Calibri" pitchFamily="34" charset="-120"/>
              </a:rPr>
              <a:t>Item-based: 'this is similar to a book you already loved'.</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Item similarity is more stable than user similarity because items don't change behavior — once two books co-occur in many favorite lists, they stay similar.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65A82"/>
          </a:solidFill>
          <a:ln w="12700">
            <a:solidFill>
              <a:srgbClr val="065A82"/>
            </a:solidFill>
            <a:prstDash val="solid"/>
          </a:ln>
        </p:spPr>
      </p:sp>
      <p:sp>
        <p:nvSpPr>
          <p:cNvPr id="3" name="Text 1"/>
          <p:cNvSpPr/>
          <p:nvPr/>
        </p:nvSpPr>
        <p:spPr>
          <a:xfrm>
            <a:off x="457200" y="320040"/>
            <a:ext cx="11430000" cy="59436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Cosine Similarity</a:t>
            </a:r>
            <a:endParaRPr lang="en-US" sz="3200" dirty="0"/>
          </a:p>
        </p:txBody>
      </p:sp>
      <p:sp>
        <p:nvSpPr>
          <p:cNvPr id="4" name="Text 2"/>
          <p:cNvSpPr/>
          <p:nvPr/>
        </p:nvSpPr>
        <p:spPr>
          <a:xfrm>
            <a:off x="457200" y="914400"/>
            <a:ext cx="11430000" cy="36576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Why angle, not magnitude</a:t>
            </a:r>
            <a:endParaRPr lang="en-US" sz="1400" dirty="0"/>
          </a:p>
        </p:txBody>
      </p:sp>
      <p:sp>
        <p:nvSpPr>
          <p:cNvPr id="5" name="Text 3"/>
          <p:cNvSpPr/>
          <p:nvPr/>
        </p:nvSpPr>
        <p:spPr>
          <a:xfrm>
            <a:off x="457200" y="6492240"/>
            <a:ext cx="548640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Little Dino · FYP26S123</a:t>
            </a:r>
            <a:endParaRPr lang="en-US" sz="900" dirty="0"/>
          </a:p>
        </p:txBody>
      </p:sp>
      <p:sp>
        <p:nvSpPr>
          <p:cNvPr id="6" name="Shape 4"/>
          <p:cNvSpPr/>
          <p:nvPr/>
        </p:nvSpPr>
        <p:spPr>
          <a:xfrm>
            <a:off x="548640" y="1554480"/>
            <a:ext cx="6583680" cy="1828800"/>
          </a:xfrm>
          <a:prstGeom prst="rect">
            <a:avLst/>
          </a:prstGeom>
          <a:solidFill>
            <a:srgbClr val="21295C"/>
          </a:solidFill>
          <a:ln w="12700">
            <a:solidFill>
              <a:srgbClr val="21295C"/>
            </a:solidFill>
            <a:prstDash val="solid"/>
          </a:ln>
        </p:spPr>
      </p:sp>
      <p:sp>
        <p:nvSpPr>
          <p:cNvPr id="7" name="Text 5"/>
          <p:cNvSpPr/>
          <p:nvPr/>
        </p:nvSpPr>
        <p:spPr>
          <a:xfrm>
            <a:off x="640080" y="1691640"/>
            <a:ext cx="6400800" cy="1554480"/>
          </a:xfrm>
          <a:prstGeom prst="rect">
            <a:avLst/>
          </a:prstGeom>
          <a:noFill/>
          <a:ln/>
        </p:spPr>
        <p:txBody>
          <a:bodyPr wrap="square" rtlCol="0" anchor="ctr"/>
          <a:lstStyle/>
          <a:p>
            <a:pPr algn="ctr" indent="0" marL="0">
              <a:buNone/>
            </a:pPr>
            <a:r>
              <a:rPr lang="en-US" sz="2200" dirty="0">
                <a:solidFill>
                  <a:srgbClr val="FFFFFF"/>
                </a:solidFill>
                <a:latin typeface="Consolas" pitchFamily="34" charset="0"/>
                <a:ea typeface="Consolas" pitchFamily="34" charset="-122"/>
                <a:cs typeface="Consolas" pitchFamily="34" charset="-120"/>
              </a:rPr>
              <a:t>cos(A, B)  =     A · B</a:t>
            </a:r>
            <a:endParaRPr lang="en-US" sz="2200" dirty="0"/>
          </a:p>
          <a:p>
            <a:pPr algn="ctr" indent="0" marL="0">
              <a:buNone/>
            </a:pPr>
            <a:r>
              <a:rPr lang="en-US" sz="2200" dirty="0">
                <a:solidFill>
                  <a:srgbClr val="FFFFFF"/>
                </a:solidFill>
                <a:latin typeface="Consolas" pitchFamily="34" charset="0"/>
                <a:ea typeface="Consolas" pitchFamily="34" charset="-122"/>
                <a:cs typeface="Consolas" pitchFamily="34" charset="-120"/>
              </a:rPr>
              <a:t>              ─────────────</a:t>
            </a:r>
            <a:endParaRPr lang="en-US" sz="2200" dirty="0"/>
          </a:p>
          <a:p>
            <a:pPr algn="ctr" indent="0" marL="0">
              <a:buNone/>
            </a:pPr>
            <a:r>
              <a:rPr lang="en-US" sz="2200" dirty="0">
                <a:solidFill>
                  <a:srgbClr val="FFFFFF"/>
                </a:solidFill>
                <a:latin typeface="Consolas" pitchFamily="34" charset="0"/>
                <a:ea typeface="Consolas" pitchFamily="34" charset="-122"/>
                <a:cs typeface="Consolas" pitchFamily="34" charset="-120"/>
              </a:rPr>
              <a:t>               ‖A‖ × ‖B‖</a:t>
            </a:r>
            <a:endParaRPr lang="en-US" sz="2200" dirty="0"/>
          </a:p>
        </p:txBody>
      </p:sp>
      <p:sp>
        <p:nvSpPr>
          <p:cNvPr id="8" name="Shape 6"/>
          <p:cNvSpPr/>
          <p:nvPr/>
        </p:nvSpPr>
        <p:spPr>
          <a:xfrm>
            <a:off x="548640" y="3520440"/>
            <a:ext cx="6583680" cy="2286000"/>
          </a:xfrm>
          <a:prstGeom prst="rect">
            <a:avLst/>
          </a:prstGeom>
          <a:solidFill>
            <a:srgbClr val="21295C"/>
          </a:solidFill>
          <a:ln w="12700">
            <a:solidFill>
              <a:srgbClr val="21295C"/>
            </a:solidFill>
            <a:prstDash val="solid"/>
          </a:ln>
        </p:spPr>
      </p:sp>
      <p:sp>
        <p:nvSpPr>
          <p:cNvPr id="9" name="Text 7"/>
          <p:cNvSpPr/>
          <p:nvPr/>
        </p:nvSpPr>
        <p:spPr>
          <a:xfrm>
            <a:off x="685800" y="3611880"/>
            <a:ext cx="6309360" cy="2103120"/>
          </a:xfrm>
          <a:prstGeom prst="rect">
            <a:avLst/>
          </a:prstGeom>
          <a:noFill/>
          <a:ln/>
        </p:spPr>
        <p:txBody>
          <a:bodyPr wrap="square" lIns="0" tIns="0" rIns="0" bIns="0" rtlCol="0" anchor="t"/>
          <a:lstStyle/>
          <a:p>
            <a:pPr algn="l" indent="0" marL="0">
              <a:buNone/>
            </a:pPr>
            <a:r>
              <a:rPr lang="en-US" sz="1100" dirty="0">
                <a:solidFill>
                  <a:srgbClr val="E2E8F0"/>
                </a:solidFill>
                <a:latin typeface="Consolas" pitchFamily="34" charset="0"/>
                <a:ea typeface="Consolas" pitchFamily="34" charset="-122"/>
                <a:cs typeface="Consolas" pitchFamily="34" charset="-120"/>
              </a:rPr>
              <a:t>private fun cosineSimilarity(a: Map&lt;String, Double&gt;, b: Map&lt;String, Double&gt;): Double {</a:t>
            </a:r>
            <a:endParaRPr lang="en-US" sz="1100" dirty="0"/>
          </a:p>
          <a:p>
            <a:pPr algn="l" indent="0" marL="0">
              <a:buNone/>
            </a:pPr>
            <a:r>
              <a:rPr lang="en-US" sz="1100" dirty="0">
                <a:solidFill>
                  <a:srgbClr val="E2E8F0"/>
                </a:solidFill>
                <a:latin typeface="Consolas" pitchFamily="34" charset="0"/>
                <a:ea typeface="Consolas" pitchFamily="34" charset="-122"/>
                <a:cs typeface="Consolas" pitchFamily="34" charset="-120"/>
              </a:rPr>
              <a:t>    val commonKeys = a.keys.intersect(b.keys)</a:t>
            </a:r>
            <a:endParaRPr lang="en-US" sz="1100" dirty="0"/>
          </a:p>
          <a:p>
            <a:pPr algn="l" indent="0" marL="0">
              <a:buNone/>
            </a:pPr>
            <a:r>
              <a:rPr lang="en-US" sz="1100" dirty="0">
                <a:solidFill>
                  <a:srgbClr val="E2E8F0"/>
                </a:solidFill>
                <a:latin typeface="Consolas" pitchFamily="34" charset="0"/>
                <a:ea typeface="Consolas" pitchFamily="34" charset="-122"/>
                <a:cs typeface="Consolas" pitchFamily="34" charset="-120"/>
              </a:rPr>
              <a:t>    if (commonKeys.isEmpty()) return 0.0</a:t>
            </a:r>
            <a:endParaRPr lang="en-US" sz="1100" dirty="0"/>
          </a:p>
          <a:p>
            <a:pPr algn="l" indent="0" marL="0">
              <a:buNone/>
            </a:pPr>
            <a:r>
              <a:rPr lang="en-US" sz="1100" dirty="0">
                <a:solidFill>
                  <a:srgbClr val="E2E8F0"/>
                </a:solidFill>
                <a:latin typeface="Consolas" pitchFamily="34" charset="0"/>
                <a:ea typeface="Consolas" pitchFamily="34" charset="-122"/>
                <a:cs typeface="Consolas" pitchFamily="34" charset="-120"/>
              </a:rPr>
              <a:t>    val dot   = commonKeys.sumOf { key -&gt; (a[key] ?: 0.0) * (b[key] ?: 0.0) }</a:t>
            </a:r>
            <a:endParaRPr lang="en-US" sz="1100" dirty="0"/>
          </a:p>
          <a:p>
            <a:pPr algn="l" indent="0" marL="0">
              <a:buNone/>
            </a:pPr>
            <a:r>
              <a:rPr lang="en-US" sz="1100" dirty="0">
                <a:solidFill>
                  <a:srgbClr val="E2E8F0"/>
                </a:solidFill>
                <a:latin typeface="Consolas" pitchFamily="34" charset="0"/>
                <a:ea typeface="Consolas" pitchFamily="34" charset="-122"/>
                <a:cs typeface="Consolas" pitchFamily="34" charset="-120"/>
              </a:rPr>
              <a:t>    val normA = sqrt(a.values.sumOf { it * it })</a:t>
            </a:r>
            <a:endParaRPr lang="en-US" sz="1100" dirty="0"/>
          </a:p>
          <a:p>
            <a:pPr algn="l" indent="0" marL="0">
              <a:buNone/>
            </a:pPr>
            <a:r>
              <a:rPr lang="en-US" sz="1100" dirty="0">
                <a:solidFill>
                  <a:srgbClr val="E2E8F0"/>
                </a:solidFill>
                <a:latin typeface="Consolas" pitchFamily="34" charset="0"/>
                <a:ea typeface="Consolas" pitchFamily="34" charset="-122"/>
                <a:cs typeface="Consolas" pitchFamily="34" charset="-120"/>
              </a:rPr>
              <a:t>    val normB = sqrt(b.values.sumOf { it * it })</a:t>
            </a:r>
            <a:endParaRPr lang="en-US" sz="1100" dirty="0"/>
          </a:p>
          <a:p>
            <a:pPr algn="l" indent="0" marL="0">
              <a:buNone/>
            </a:pPr>
            <a:r>
              <a:rPr lang="en-US" sz="1100" dirty="0">
                <a:solidFill>
                  <a:srgbClr val="E2E8F0"/>
                </a:solidFill>
                <a:latin typeface="Consolas" pitchFamily="34" charset="0"/>
                <a:ea typeface="Consolas" pitchFamily="34" charset="-122"/>
                <a:cs typeface="Consolas" pitchFamily="34" charset="-120"/>
              </a:rPr>
              <a:t>    if (normA == 0.0 || normB == 0.0) return 0.0</a:t>
            </a:r>
            <a:endParaRPr lang="en-US" sz="1100" dirty="0"/>
          </a:p>
          <a:p>
            <a:pPr algn="l" indent="0" marL="0">
              <a:buNone/>
            </a:pPr>
            <a:r>
              <a:rPr lang="en-US" sz="1100" dirty="0">
                <a:solidFill>
                  <a:srgbClr val="E2E8F0"/>
                </a:solidFill>
                <a:latin typeface="Consolas" pitchFamily="34" charset="0"/>
                <a:ea typeface="Consolas" pitchFamily="34" charset="-122"/>
                <a:cs typeface="Consolas" pitchFamily="34" charset="-120"/>
              </a:rPr>
              <a:t>    return dot / (normA * normB)</a:t>
            </a:r>
            <a:endParaRPr lang="en-US" sz="1100" dirty="0"/>
          </a:p>
          <a:p>
            <a:pPr algn="l" indent="0" marL="0">
              <a:buNone/>
            </a:pPr>
            <a:r>
              <a:rPr lang="en-US" sz="1100" dirty="0">
                <a:solidFill>
                  <a:srgbClr val="E2E8F0"/>
                </a:solidFill>
                <a:latin typeface="Consolas" pitchFamily="34" charset="0"/>
                <a:ea typeface="Consolas" pitchFamily="34" charset="-122"/>
                <a:cs typeface="Consolas" pitchFamily="34" charset="-120"/>
              </a:rPr>
              <a:t>}</a:t>
            </a:r>
            <a:endParaRPr lang="en-US" sz="1100" dirty="0"/>
          </a:p>
        </p:txBody>
      </p:sp>
      <p:sp>
        <p:nvSpPr>
          <p:cNvPr id="10" name="Shape 8"/>
          <p:cNvSpPr/>
          <p:nvPr/>
        </p:nvSpPr>
        <p:spPr>
          <a:xfrm>
            <a:off x="7360920" y="1554480"/>
            <a:ext cx="4434840" cy="4251960"/>
          </a:xfrm>
          <a:prstGeom prst="rect">
            <a:avLst/>
          </a:prstGeom>
          <a:solidFill>
            <a:srgbClr val="FFFFFF"/>
          </a:solidFill>
          <a:ln w="12700">
            <a:solidFill>
              <a:srgbClr val="E2E8F0"/>
            </a:solidFill>
            <a:prstDash val="solid"/>
          </a:ln>
        </p:spPr>
      </p:sp>
      <p:sp>
        <p:nvSpPr>
          <p:cNvPr id="11" name="Text 9"/>
          <p:cNvSpPr/>
          <p:nvPr/>
        </p:nvSpPr>
        <p:spPr>
          <a:xfrm>
            <a:off x="7543800" y="1737360"/>
            <a:ext cx="4069080" cy="548640"/>
          </a:xfrm>
          <a:prstGeom prst="rect">
            <a:avLst/>
          </a:prstGeom>
          <a:noFill/>
          <a:ln/>
        </p:spPr>
        <p:txBody>
          <a:bodyPr wrap="square" lIns="0" tIns="0" rIns="0" bIns="0" rtlCol="0" anchor="ctr"/>
          <a:lstStyle/>
          <a:p>
            <a:pPr indent="0" marL="0">
              <a:buNone/>
            </a:pPr>
            <a:r>
              <a:rPr lang="en-US" sz="1400" b="1" dirty="0">
                <a:solidFill>
                  <a:srgbClr val="21295C"/>
                </a:solidFill>
                <a:latin typeface="Cambria" pitchFamily="34" charset="0"/>
                <a:ea typeface="Cambria" pitchFamily="34" charset="-122"/>
                <a:cs typeface="Cambria" pitchFamily="34" charset="-120"/>
              </a:rPr>
              <a:t>Why cosine over Pearson or Euclidean?</a:t>
            </a:r>
            <a:endParaRPr lang="en-US" sz="1400" dirty="0"/>
          </a:p>
        </p:txBody>
      </p:sp>
      <p:sp>
        <p:nvSpPr>
          <p:cNvPr id="12" name="Text 10"/>
          <p:cNvSpPr/>
          <p:nvPr/>
        </p:nvSpPr>
        <p:spPr>
          <a:xfrm>
            <a:off x="7543800" y="2331720"/>
            <a:ext cx="4069080" cy="3291840"/>
          </a:xfrm>
          <a:prstGeom prst="rect">
            <a:avLst/>
          </a:prstGeom>
          <a:noFill/>
          <a:ln/>
        </p:spPr>
        <p:txBody>
          <a:bodyPr wrap="square" lIns="0" tIns="0" rIns="0" bIns="0" rtlCol="0" anchor="t"/>
          <a:lstStyle/>
          <a:p>
            <a:pPr indent="0" marL="0">
              <a:buNone/>
            </a:pPr>
            <a:r>
              <a:rPr lang="en-US" sz="1100" b="1" dirty="0">
                <a:solidFill>
                  <a:srgbClr val="1F2937"/>
                </a:solidFill>
                <a:latin typeface="Calibri" pitchFamily="34" charset="0"/>
                <a:ea typeface="Calibri" pitchFamily="34" charset="-122"/>
                <a:cs typeface="Calibri" pitchFamily="34" charset="-120"/>
              </a:rPr>
              <a:t>Sparse vectors</a:t>
            </a:r>
            <a:endParaRPr lang="en-US" sz="1100" dirty="0"/>
          </a:p>
          <a:p>
            <a:pPr indent="0" marL="0">
              <a:buNone/>
            </a:pPr>
            <a:r>
              <a:rPr lang="en-US" sz="1100" dirty="0">
                <a:solidFill>
                  <a:srgbClr val="1F2937"/>
                </a:solidFill>
                <a:latin typeface="Calibri" pitchFamily="34" charset="0"/>
                <a:ea typeface="Calibri" pitchFamily="34" charset="-122"/>
                <a:cs typeface="Calibri" pitchFamily="34" charset="-120"/>
              </a:rPr>
              <a:t>Most users interact with &lt;1% of the catalogue. Cosine handles sparsity natively — only common keys contribute.</a:t>
            </a:r>
            <a:endParaRPr lang="en-US" sz="1100" dirty="0"/>
          </a:p>
          <a:p>
            <a:pPr indent="0" marL="0">
              <a:buNone/>
            </a:pPr>
            <a:endParaRPr lang="en-US" sz="1100" dirty="0"/>
          </a:p>
          <a:p>
            <a:pPr indent="0" marL="0">
              <a:buNone/>
            </a:pPr>
            <a:r>
              <a:rPr lang="en-US" sz="1100" b="1" dirty="0">
                <a:solidFill>
                  <a:srgbClr val="1F2937"/>
                </a:solidFill>
                <a:latin typeface="Calibri" pitchFamily="34" charset="0"/>
                <a:ea typeface="Calibri" pitchFamily="34" charset="-122"/>
                <a:cs typeface="Calibri" pitchFamily="34" charset="-120"/>
              </a:rPr>
              <a:t>Scale-invariant</a:t>
            </a:r>
            <a:endParaRPr lang="en-US" sz="1100" dirty="0"/>
          </a:p>
          <a:p>
            <a:pPr indent="0" marL="0">
              <a:buNone/>
            </a:pPr>
            <a:r>
              <a:rPr lang="en-US" sz="1100" dirty="0">
                <a:solidFill>
                  <a:srgbClr val="1F2937"/>
                </a:solidFill>
                <a:latin typeface="Calibri" pitchFamily="34" charset="0"/>
                <a:ea typeface="Calibri" pitchFamily="34" charset="-122"/>
                <a:cs typeface="Calibri" pitchFamily="34" charset="-120"/>
              </a:rPr>
              <a:t>A heavy reader with 100 favorites and a casual user with 5 can still be 'similar' if the items overlap proportionally.</a:t>
            </a:r>
            <a:endParaRPr lang="en-US" sz="1100" dirty="0"/>
          </a:p>
          <a:p>
            <a:pPr indent="0" marL="0">
              <a:buNone/>
            </a:pPr>
            <a:endParaRPr lang="en-US" sz="1100" dirty="0"/>
          </a:p>
          <a:p>
            <a:pPr indent="0" marL="0">
              <a:buNone/>
            </a:pPr>
            <a:r>
              <a:rPr lang="en-US" sz="1100" b="1" dirty="0">
                <a:solidFill>
                  <a:srgbClr val="1F2937"/>
                </a:solidFill>
                <a:latin typeface="Calibri" pitchFamily="34" charset="0"/>
                <a:ea typeface="Calibri" pitchFamily="34" charset="-122"/>
                <a:cs typeface="Calibri" pitchFamily="34" charset="-120"/>
              </a:rPr>
              <a:t>Bounded [0, 1] for our weights</a:t>
            </a:r>
            <a:endParaRPr lang="en-US" sz="1100" dirty="0"/>
          </a:p>
          <a:p>
            <a:pPr indent="0" marL="0">
              <a:buNone/>
            </a:pPr>
            <a:r>
              <a:rPr lang="en-US" sz="1100" dirty="0">
                <a:solidFill>
                  <a:srgbClr val="1F2937"/>
                </a:solidFill>
                <a:latin typeface="Calibri" pitchFamily="34" charset="0"/>
                <a:ea typeface="Calibri" pitchFamily="34" charset="-122"/>
                <a:cs typeface="Calibri" pitchFamily="34" charset="-120"/>
              </a:rPr>
              <a:t>All weights are non-negative, so cosine never goes negative — clean numerics, easy normalization.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65A82"/>
          </a:solidFill>
          <a:ln w="12700">
            <a:solidFill>
              <a:srgbClr val="065A82"/>
            </a:solidFill>
            <a:prstDash val="solid"/>
          </a:ln>
        </p:spPr>
      </p:sp>
      <p:sp>
        <p:nvSpPr>
          <p:cNvPr id="3" name="Text 1"/>
          <p:cNvSpPr/>
          <p:nvPr/>
        </p:nvSpPr>
        <p:spPr>
          <a:xfrm>
            <a:off x="457200" y="320040"/>
            <a:ext cx="11430000" cy="59436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The Hybrid Blend</a:t>
            </a:r>
            <a:endParaRPr lang="en-US" sz="3200" dirty="0"/>
          </a:p>
        </p:txBody>
      </p:sp>
      <p:sp>
        <p:nvSpPr>
          <p:cNvPr id="4" name="Text 2"/>
          <p:cNvSpPr/>
          <p:nvPr/>
        </p:nvSpPr>
        <p:spPr>
          <a:xfrm>
            <a:off x="457200" y="914400"/>
            <a:ext cx="11430000" cy="36576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Combining both signals into one ranking</a:t>
            </a:r>
            <a:endParaRPr lang="en-US" sz="1400" dirty="0"/>
          </a:p>
        </p:txBody>
      </p:sp>
      <p:sp>
        <p:nvSpPr>
          <p:cNvPr id="5" name="Text 3"/>
          <p:cNvSpPr/>
          <p:nvPr/>
        </p:nvSpPr>
        <p:spPr>
          <a:xfrm>
            <a:off x="457200" y="6492240"/>
            <a:ext cx="548640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Little Dino · FYP26S123</a:t>
            </a:r>
            <a:endParaRPr lang="en-US" sz="900" dirty="0"/>
          </a:p>
        </p:txBody>
      </p:sp>
      <p:sp>
        <p:nvSpPr>
          <p:cNvPr id="6" name="Shape 4"/>
          <p:cNvSpPr/>
          <p:nvPr/>
        </p:nvSpPr>
        <p:spPr>
          <a:xfrm>
            <a:off x="548640" y="1554480"/>
            <a:ext cx="11247120" cy="2286000"/>
          </a:xfrm>
          <a:prstGeom prst="rect">
            <a:avLst/>
          </a:prstGeom>
          <a:solidFill>
            <a:srgbClr val="065A82"/>
          </a:solidFill>
          <a:ln w="12700">
            <a:solidFill>
              <a:srgbClr val="065A82"/>
            </a:solidFill>
            <a:prstDash val="solid"/>
          </a:ln>
        </p:spPr>
      </p:sp>
      <p:sp>
        <p:nvSpPr>
          <p:cNvPr id="7" name="Text 5"/>
          <p:cNvSpPr/>
          <p:nvPr/>
        </p:nvSpPr>
        <p:spPr>
          <a:xfrm>
            <a:off x="640080" y="1691640"/>
            <a:ext cx="11064240" cy="91440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finalScore  =  0.5 × userBasedScore  +  0.5 × itemBasedScore</a:t>
            </a:r>
            <a:endParaRPr lang="en-US" sz="2800" dirty="0"/>
          </a:p>
        </p:txBody>
      </p:sp>
      <p:sp>
        <p:nvSpPr>
          <p:cNvPr id="8" name="Text 6"/>
          <p:cNvSpPr/>
          <p:nvPr/>
        </p:nvSpPr>
        <p:spPr>
          <a:xfrm>
            <a:off x="640080" y="2697480"/>
            <a:ext cx="11064240" cy="457200"/>
          </a:xfrm>
          <a:prstGeom prst="rect">
            <a:avLst/>
          </a:prstGeom>
          <a:noFill/>
          <a:ln/>
        </p:spPr>
        <p:txBody>
          <a:bodyPr wrap="square" lIns="0" tIns="0" rIns="0" bIns="0" rtlCol="0" anchor="ctr"/>
          <a:lstStyle/>
          <a:p>
            <a:pPr algn="ctr" indent="0" marL="0">
              <a:buNone/>
            </a:pPr>
            <a:r>
              <a:rPr lang="en-US" sz="1400" i="1" dirty="0">
                <a:solidFill>
                  <a:srgbClr val="9DECFF"/>
                </a:solidFill>
                <a:latin typeface="Calibri" pitchFamily="34" charset="0"/>
                <a:ea typeface="Calibri" pitchFamily="34" charset="-122"/>
                <a:cs typeface="Calibri" pitchFamily="34" charset="-120"/>
              </a:rPr>
              <a:t>equal weight — no a-priori reason to favor one over the other on a small dataset</a:t>
            </a:r>
            <a:endParaRPr lang="en-US" sz="1400" dirty="0"/>
          </a:p>
        </p:txBody>
      </p:sp>
      <p:sp>
        <p:nvSpPr>
          <p:cNvPr id="9" name="Text 7"/>
          <p:cNvSpPr/>
          <p:nvPr/>
        </p:nvSpPr>
        <p:spPr>
          <a:xfrm>
            <a:off x="640080" y="3200400"/>
            <a:ext cx="11064240" cy="457200"/>
          </a:xfrm>
          <a:prstGeom prst="rect">
            <a:avLst/>
          </a:prstGeom>
          <a:noFill/>
          <a:ln/>
        </p:spPr>
        <p:txBody>
          <a:bodyPr wrap="square" lIns="0" tIns="0" rIns="0" bIns="0" rtlCol="0" anchor="ctr"/>
          <a:lstStyle/>
          <a:p>
            <a:pPr algn="ctr" indent="0" marL="0">
              <a:buNone/>
            </a:pPr>
            <a:r>
              <a:rPr lang="en-US" sz="1300" dirty="0">
                <a:solidFill>
                  <a:srgbClr val="F9E795"/>
                </a:solidFill>
                <a:latin typeface="Consolas" pitchFamily="34" charset="0"/>
                <a:ea typeface="Consolas" pitchFamily="34" charset="-122"/>
                <a:cs typeface="Consolas" pitchFamily="34" charset="-120"/>
              </a:rPr>
              <a:t>if (finalScore &lt;= 0.0) return null     // drops items with zero signal</a:t>
            </a:r>
            <a:endParaRPr lang="en-US" sz="1300" dirty="0"/>
          </a:p>
        </p:txBody>
      </p:sp>
      <p:sp>
        <p:nvSpPr>
          <p:cNvPr id="10" name="Shape 8"/>
          <p:cNvSpPr/>
          <p:nvPr/>
        </p:nvSpPr>
        <p:spPr>
          <a:xfrm>
            <a:off x="548640" y="4114800"/>
            <a:ext cx="11247120" cy="1828800"/>
          </a:xfrm>
          <a:prstGeom prst="rect">
            <a:avLst/>
          </a:prstGeom>
          <a:solidFill>
            <a:srgbClr val="FFFFFF"/>
          </a:solidFill>
          <a:ln w="12700">
            <a:solidFill>
              <a:srgbClr val="E2E8F0"/>
            </a:solidFill>
            <a:prstDash val="solid"/>
          </a:ln>
        </p:spPr>
      </p:sp>
      <p:sp>
        <p:nvSpPr>
          <p:cNvPr id="11" name="Text 9"/>
          <p:cNvSpPr/>
          <p:nvPr/>
        </p:nvSpPr>
        <p:spPr>
          <a:xfrm>
            <a:off x="731520" y="4251960"/>
            <a:ext cx="10972800" cy="411480"/>
          </a:xfrm>
          <a:prstGeom prst="rect">
            <a:avLst/>
          </a:prstGeom>
          <a:noFill/>
          <a:ln/>
        </p:spPr>
        <p:txBody>
          <a:bodyPr wrap="square" lIns="0" tIns="0" rIns="0" bIns="0" rtlCol="0" anchor="ctr"/>
          <a:lstStyle/>
          <a:p>
            <a:pPr indent="0" marL="0">
              <a:buNone/>
            </a:pPr>
            <a:r>
              <a:rPr lang="en-US" sz="1400" b="1" dirty="0">
                <a:solidFill>
                  <a:srgbClr val="21295C"/>
                </a:solidFill>
                <a:latin typeface="Cambria" pitchFamily="34" charset="0"/>
                <a:ea typeface="Cambria" pitchFamily="34" charset="-122"/>
                <a:cs typeface="Cambria" pitchFamily="34" charset="-120"/>
              </a:rPr>
              <a:t>Explainability: every recommendation carries a reason</a:t>
            </a:r>
            <a:endParaRPr lang="en-US" sz="1400" dirty="0"/>
          </a:p>
        </p:txBody>
      </p:sp>
      <p:sp>
        <p:nvSpPr>
          <p:cNvPr id="12" name="Text 10"/>
          <p:cNvSpPr/>
          <p:nvPr/>
        </p:nvSpPr>
        <p:spPr>
          <a:xfrm>
            <a:off x="731520" y="4709160"/>
            <a:ext cx="10972800" cy="1188720"/>
          </a:xfrm>
          <a:prstGeom prst="rect">
            <a:avLst/>
          </a:prstGeom>
          <a:noFill/>
          <a:ln/>
        </p:spPr>
        <p:txBody>
          <a:bodyPr wrap="square" lIns="0" tIns="0" rIns="0" bIns="0" rtlCol="0" anchor="t"/>
          <a:lstStyle/>
          <a:p>
            <a:pPr indent="0" marL="0">
              <a:spcAft>
                <a:spcPts val="400"/>
              </a:spcAft>
              <a:buNone/>
            </a:pPr>
            <a:r>
              <a:rPr lang="en-US" sz="1300" b="1" dirty="0">
                <a:solidFill>
                  <a:srgbClr val="1F2937"/>
                </a:solidFill>
                <a:latin typeface="Consolas" pitchFamily="34" charset="0"/>
                <a:ea typeface="Consolas" pitchFamily="34" charset="-122"/>
                <a:cs typeface="Consolas" pitchFamily="34" charset="-120"/>
              </a:rPr>
              <a:t>userBasedScore &gt; itemBasedScore  →  </a:t>
            </a:r>
            <a:pPr indent="0" marL="0">
              <a:spcAft>
                <a:spcPts val="400"/>
              </a:spcAft>
              <a:buNone/>
            </a:pPr>
            <a:r>
              <a:rPr lang="en-US" sz="1300" i="1" dirty="0">
                <a:solidFill>
                  <a:srgbClr val="065A82"/>
                </a:solidFill>
                <a:latin typeface="Consolas" pitchFamily="34" charset="0"/>
                <a:ea typeface="Consolas" pitchFamily="34" charset="-122"/>
                <a:cs typeface="Consolas" pitchFamily="34" charset="-120"/>
              </a:rPr>
              <a:t>"similar users liked this"</a:t>
            </a:r>
            <a:endParaRPr lang="en-US" sz="1300" dirty="0"/>
          </a:p>
          <a:p>
            <a:pPr indent="0" marL="0">
              <a:spcAft>
                <a:spcPts val="400"/>
              </a:spcAft>
              <a:buNone/>
            </a:pPr>
            <a:r>
              <a:rPr lang="en-US" sz="1300" b="1" dirty="0">
                <a:solidFill>
                  <a:srgbClr val="1F2937"/>
                </a:solidFill>
                <a:latin typeface="Consolas" pitchFamily="34" charset="0"/>
                <a:ea typeface="Consolas" pitchFamily="34" charset="-122"/>
                <a:cs typeface="Consolas" pitchFamily="34" charset="-120"/>
              </a:rPr>
              <a:t>itemBasedScore &gt; userBasedScore  →  </a:t>
            </a:r>
            <a:pPr indent="0" marL="0">
              <a:spcAft>
                <a:spcPts val="400"/>
              </a:spcAft>
              <a:buNone/>
            </a:pPr>
            <a:r>
              <a:rPr lang="en-US" sz="1300" i="1" dirty="0">
                <a:solidFill>
                  <a:srgbClr val="065A82"/>
                </a:solidFill>
                <a:latin typeface="Consolas" pitchFamily="34" charset="0"/>
                <a:ea typeface="Consolas" pitchFamily="34" charset="-122"/>
                <a:cs typeface="Consolas" pitchFamily="34" charset="-120"/>
              </a:rPr>
              <a:t>"similar to items the child already liked"</a:t>
            </a:r>
            <a:endParaRPr lang="en-US" sz="1300" dirty="0"/>
          </a:p>
          <a:p>
            <a:pPr indent="0" marL="0">
              <a:spcAft>
                <a:spcPts val="400"/>
              </a:spcAft>
              <a:buNone/>
            </a:pPr>
            <a:r>
              <a:rPr lang="en-US" sz="1300" b="1" dirty="0">
                <a:solidFill>
                  <a:srgbClr val="1F2937"/>
                </a:solidFill>
                <a:latin typeface="Consolas" pitchFamily="34" charset="0"/>
                <a:ea typeface="Consolas" pitchFamily="34" charset="-122"/>
                <a:cs typeface="Consolas" pitchFamily="34" charset="-120"/>
              </a:rPr>
              <a:t>tie  →  </a:t>
            </a:r>
            <a:pPr indent="0" marL="0">
              <a:spcAft>
                <a:spcPts val="400"/>
              </a:spcAft>
              <a:buNone/>
            </a:pPr>
            <a:r>
              <a:rPr lang="en-US" sz="1300" i="1" dirty="0">
                <a:solidFill>
                  <a:srgbClr val="065A82"/>
                </a:solidFill>
                <a:latin typeface="Consolas" pitchFamily="34" charset="0"/>
                <a:ea typeface="Consolas" pitchFamily="34" charset="-122"/>
                <a:cs typeface="Consolas" pitchFamily="34" charset="-120"/>
              </a:rPr>
              <a:t>"both similar users and similar items"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65A82"/>
          </a:solidFill>
          <a:ln w="12700">
            <a:solidFill>
              <a:srgbClr val="065A82"/>
            </a:solidFill>
            <a:prstDash val="solid"/>
          </a:ln>
        </p:spPr>
      </p:sp>
      <p:sp>
        <p:nvSpPr>
          <p:cNvPr id="3" name="Text 1"/>
          <p:cNvSpPr/>
          <p:nvPr/>
        </p:nvSpPr>
        <p:spPr>
          <a:xfrm>
            <a:off x="457200" y="320040"/>
            <a:ext cx="11430000" cy="59436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Safety &amp; Age Filters</a:t>
            </a:r>
            <a:endParaRPr lang="en-US" sz="3200" dirty="0"/>
          </a:p>
        </p:txBody>
      </p:sp>
      <p:sp>
        <p:nvSpPr>
          <p:cNvPr id="4" name="Text 2"/>
          <p:cNvSpPr/>
          <p:nvPr/>
        </p:nvSpPr>
        <p:spPr>
          <a:xfrm>
            <a:off x="457200" y="914400"/>
            <a:ext cx="11430000" cy="36576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Recommendations the child can actually consume</a:t>
            </a:r>
            <a:endParaRPr lang="en-US" sz="1400" dirty="0"/>
          </a:p>
        </p:txBody>
      </p:sp>
      <p:sp>
        <p:nvSpPr>
          <p:cNvPr id="5" name="Text 3"/>
          <p:cNvSpPr/>
          <p:nvPr/>
        </p:nvSpPr>
        <p:spPr>
          <a:xfrm>
            <a:off x="457200" y="6492240"/>
            <a:ext cx="548640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Little Dino · FYP26S123</a:t>
            </a:r>
            <a:endParaRPr lang="en-US" sz="900" dirty="0"/>
          </a:p>
        </p:txBody>
      </p:sp>
      <p:sp>
        <p:nvSpPr>
          <p:cNvPr id="6" name="Shape 4"/>
          <p:cNvSpPr/>
          <p:nvPr/>
        </p:nvSpPr>
        <p:spPr>
          <a:xfrm>
            <a:off x="640080" y="1554480"/>
            <a:ext cx="3566160" cy="4389120"/>
          </a:xfrm>
          <a:prstGeom prst="rect">
            <a:avLst/>
          </a:prstGeom>
          <a:solidFill>
            <a:srgbClr val="FFFFFF"/>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7" name="Shape 5"/>
          <p:cNvSpPr/>
          <p:nvPr/>
        </p:nvSpPr>
        <p:spPr>
          <a:xfrm>
            <a:off x="640080" y="1554480"/>
            <a:ext cx="73152" cy="4389120"/>
          </a:xfrm>
          <a:prstGeom prst="rect">
            <a:avLst/>
          </a:prstGeom>
          <a:solidFill>
            <a:srgbClr val="065A82"/>
          </a:solidFill>
          <a:ln w="12700">
            <a:solidFill>
              <a:srgbClr val="065A82"/>
            </a:solidFill>
            <a:prstDash val="solid"/>
          </a:ln>
        </p:spPr>
      </p:sp>
      <p:sp>
        <p:nvSpPr>
          <p:cNvPr id="8" name="Text 6"/>
          <p:cNvSpPr/>
          <p:nvPr/>
        </p:nvSpPr>
        <p:spPr>
          <a:xfrm>
            <a:off x="868680" y="1737360"/>
            <a:ext cx="3108960" cy="548640"/>
          </a:xfrm>
          <a:prstGeom prst="rect">
            <a:avLst/>
          </a:prstGeom>
          <a:noFill/>
          <a:ln/>
        </p:spPr>
        <p:txBody>
          <a:bodyPr wrap="square" lIns="0" tIns="0" rIns="0" bIns="0" rtlCol="0" anchor="ctr"/>
          <a:lstStyle/>
          <a:p>
            <a:pPr indent="0" marL="0">
              <a:buNone/>
            </a:pPr>
            <a:r>
              <a:rPr lang="en-US" sz="1800" b="1" dirty="0">
                <a:solidFill>
                  <a:srgbClr val="21295C"/>
                </a:solidFill>
                <a:latin typeface="Cambria" pitchFamily="34" charset="0"/>
                <a:ea typeface="Cambria" pitchFamily="34" charset="-122"/>
                <a:cs typeface="Cambria" pitchFamily="34" charset="-120"/>
              </a:rPr>
              <a:t>isKidSafe gate</a:t>
            </a:r>
            <a:endParaRPr lang="en-US" sz="1800" dirty="0"/>
          </a:p>
        </p:txBody>
      </p:sp>
      <p:sp>
        <p:nvSpPr>
          <p:cNvPr id="9" name="Text 7"/>
          <p:cNvSpPr/>
          <p:nvPr/>
        </p:nvSpPr>
        <p:spPr>
          <a:xfrm>
            <a:off x="868680" y="2331720"/>
            <a:ext cx="3108960" cy="246888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Every CFItem has an isKidSafe boolean. The first line of the algorithm filters the candidate pool — items can never reach the scoring loop if they aren't safe.</a:t>
            </a:r>
            <a:endParaRPr lang="en-US" sz="1200" dirty="0"/>
          </a:p>
        </p:txBody>
      </p:sp>
      <p:sp>
        <p:nvSpPr>
          <p:cNvPr id="10" name="Shape 8"/>
          <p:cNvSpPr/>
          <p:nvPr/>
        </p:nvSpPr>
        <p:spPr>
          <a:xfrm>
            <a:off x="868680" y="4937760"/>
            <a:ext cx="3108960" cy="868680"/>
          </a:xfrm>
          <a:prstGeom prst="rect">
            <a:avLst/>
          </a:prstGeom>
          <a:solidFill>
            <a:srgbClr val="21295C"/>
          </a:solidFill>
          <a:ln w="12700">
            <a:solidFill>
              <a:srgbClr val="21295C"/>
            </a:solidFill>
            <a:prstDash val="solid"/>
          </a:ln>
        </p:spPr>
      </p:sp>
      <p:sp>
        <p:nvSpPr>
          <p:cNvPr id="11" name="Text 9"/>
          <p:cNvSpPr/>
          <p:nvPr/>
        </p:nvSpPr>
        <p:spPr>
          <a:xfrm>
            <a:off x="1005840" y="5029200"/>
            <a:ext cx="2834640" cy="685800"/>
          </a:xfrm>
          <a:prstGeom prst="rect">
            <a:avLst/>
          </a:prstGeom>
          <a:noFill/>
          <a:ln/>
        </p:spPr>
        <p:txBody>
          <a:bodyPr wrap="square" lIns="0" tIns="0" rIns="0" bIns="0" rtlCol="0" anchor="t"/>
          <a:lstStyle/>
          <a:p>
            <a:pPr algn="l" indent="0" marL="0">
              <a:buNone/>
            </a:pPr>
            <a:r>
              <a:rPr lang="en-US" sz="1100" dirty="0">
                <a:solidFill>
                  <a:srgbClr val="E2E8F0"/>
                </a:solidFill>
                <a:latin typeface="Consolas" pitchFamily="34" charset="0"/>
                <a:ea typeface="Consolas" pitchFamily="34" charset="-122"/>
                <a:cs typeface="Consolas" pitchFamily="34" charset="-120"/>
              </a:rPr>
              <a:t>allItems.filter { it.isKidSafe }</a:t>
            </a:r>
            <a:endParaRPr lang="en-US" sz="1100" dirty="0"/>
          </a:p>
        </p:txBody>
      </p:sp>
      <p:sp>
        <p:nvSpPr>
          <p:cNvPr id="12" name="Shape 10"/>
          <p:cNvSpPr/>
          <p:nvPr/>
        </p:nvSpPr>
        <p:spPr>
          <a:xfrm>
            <a:off x="4343400" y="1554480"/>
            <a:ext cx="3566160" cy="4389120"/>
          </a:xfrm>
          <a:prstGeom prst="rect">
            <a:avLst/>
          </a:prstGeom>
          <a:solidFill>
            <a:srgbClr val="FFFFFF"/>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13" name="Shape 11"/>
          <p:cNvSpPr/>
          <p:nvPr/>
        </p:nvSpPr>
        <p:spPr>
          <a:xfrm>
            <a:off x="4343400" y="1554480"/>
            <a:ext cx="73152" cy="4389120"/>
          </a:xfrm>
          <a:prstGeom prst="rect">
            <a:avLst/>
          </a:prstGeom>
          <a:solidFill>
            <a:srgbClr val="065A82"/>
          </a:solidFill>
          <a:ln w="12700">
            <a:solidFill>
              <a:srgbClr val="065A82"/>
            </a:solidFill>
            <a:prstDash val="solid"/>
          </a:ln>
        </p:spPr>
      </p:sp>
      <p:sp>
        <p:nvSpPr>
          <p:cNvPr id="14" name="Text 12"/>
          <p:cNvSpPr/>
          <p:nvPr/>
        </p:nvSpPr>
        <p:spPr>
          <a:xfrm>
            <a:off x="4572000" y="1737360"/>
            <a:ext cx="3108960" cy="548640"/>
          </a:xfrm>
          <a:prstGeom prst="rect">
            <a:avLst/>
          </a:prstGeom>
          <a:noFill/>
          <a:ln/>
        </p:spPr>
        <p:txBody>
          <a:bodyPr wrap="square" lIns="0" tIns="0" rIns="0" bIns="0" rtlCol="0" anchor="ctr"/>
          <a:lstStyle/>
          <a:p>
            <a:pPr indent="0" marL="0">
              <a:buNone/>
            </a:pPr>
            <a:r>
              <a:rPr lang="en-US" sz="1800" b="1" dirty="0">
                <a:solidFill>
                  <a:srgbClr val="21295C"/>
                </a:solidFill>
                <a:latin typeface="Cambria" pitchFamily="34" charset="0"/>
                <a:ea typeface="Cambria" pitchFamily="34" charset="-122"/>
                <a:cs typeface="Cambria" pitchFamily="34" charset="-120"/>
              </a:rPr>
              <a:t>Age band match</a:t>
            </a:r>
            <a:endParaRPr lang="en-US" sz="1800" dirty="0"/>
          </a:p>
        </p:txBody>
      </p:sp>
      <p:sp>
        <p:nvSpPr>
          <p:cNvPr id="15" name="Text 13"/>
          <p:cNvSpPr/>
          <p:nvPr/>
        </p:nvSpPr>
        <p:spPr>
          <a:xfrm>
            <a:off x="4572000" y="2331720"/>
            <a:ext cx="3108960" cy="246888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ageMin ≤ childAge AND ageMax ≥ (childAge − AGE_FLOOR_SLACK).</a:t>
            </a:r>
            <a:endParaRPr lang="en-US" sz="1200" dirty="0"/>
          </a:p>
          <a:p>
            <a:pPr indent="0" marL="0">
              <a:buNone/>
            </a:pPr>
            <a:endParaRPr lang="en-US" sz="1200" dirty="0"/>
          </a:p>
          <a:p>
            <a:pPr indent="0" marL="0">
              <a:buNone/>
            </a:pPr>
            <a:r>
              <a:rPr lang="en-US" sz="1200" dirty="0">
                <a:solidFill>
                  <a:srgbClr val="1F2937"/>
                </a:solidFill>
                <a:latin typeface="Calibri" pitchFamily="34" charset="0"/>
                <a:ea typeface="Calibri" pitchFamily="34" charset="-122"/>
                <a:cs typeface="Calibri" pitchFamily="34" charset="-120"/>
              </a:rPr>
              <a:t>ageMin is enforced strictly. ageMax is relaxed by 4 years so older kids still pull in middle-grade titles.</a:t>
            </a:r>
            <a:endParaRPr lang="en-US" sz="1200" dirty="0"/>
          </a:p>
        </p:txBody>
      </p:sp>
      <p:sp>
        <p:nvSpPr>
          <p:cNvPr id="16" name="Shape 14"/>
          <p:cNvSpPr/>
          <p:nvPr/>
        </p:nvSpPr>
        <p:spPr>
          <a:xfrm>
            <a:off x="4572000" y="4937760"/>
            <a:ext cx="3108960" cy="868680"/>
          </a:xfrm>
          <a:prstGeom prst="rect">
            <a:avLst/>
          </a:prstGeom>
          <a:solidFill>
            <a:srgbClr val="21295C"/>
          </a:solidFill>
          <a:ln w="12700">
            <a:solidFill>
              <a:srgbClr val="21295C"/>
            </a:solidFill>
            <a:prstDash val="solid"/>
          </a:ln>
        </p:spPr>
      </p:sp>
      <p:sp>
        <p:nvSpPr>
          <p:cNvPr id="17" name="Text 15"/>
          <p:cNvSpPr/>
          <p:nvPr/>
        </p:nvSpPr>
        <p:spPr>
          <a:xfrm>
            <a:off x="4709160" y="5029200"/>
            <a:ext cx="2834640" cy="685800"/>
          </a:xfrm>
          <a:prstGeom prst="rect">
            <a:avLst/>
          </a:prstGeom>
          <a:noFill/>
          <a:ln/>
        </p:spPr>
        <p:txBody>
          <a:bodyPr wrap="square" lIns="0" tIns="0" rIns="0" bIns="0" rtlCol="0" anchor="t"/>
          <a:lstStyle/>
          <a:p>
            <a:pPr algn="l" indent="0" marL="0">
              <a:buNone/>
            </a:pPr>
            <a:r>
              <a:rPr lang="en-US" sz="1100" dirty="0">
                <a:solidFill>
                  <a:srgbClr val="E2E8F0"/>
                </a:solidFill>
                <a:latin typeface="Consolas" pitchFamily="34" charset="0"/>
                <a:ea typeface="Consolas" pitchFamily="34" charset="-122"/>
                <a:cs typeface="Consolas" pitchFamily="34" charset="-120"/>
              </a:rPr>
              <a:t>AGE_FLOOR_SLACK = 4</a:t>
            </a:r>
            <a:endParaRPr lang="en-US" sz="1100" dirty="0"/>
          </a:p>
        </p:txBody>
      </p:sp>
      <p:sp>
        <p:nvSpPr>
          <p:cNvPr id="18" name="Shape 16"/>
          <p:cNvSpPr/>
          <p:nvPr/>
        </p:nvSpPr>
        <p:spPr>
          <a:xfrm>
            <a:off x="8046720" y="1554480"/>
            <a:ext cx="3566160" cy="4389120"/>
          </a:xfrm>
          <a:prstGeom prst="rect">
            <a:avLst/>
          </a:prstGeom>
          <a:solidFill>
            <a:srgbClr val="FFFFFF"/>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19" name="Shape 17"/>
          <p:cNvSpPr/>
          <p:nvPr/>
        </p:nvSpPr>
        <p:spPr>
          <a:xfrm>
            <a:off x="8046720" y="1554480"/>
            <a:ext cx="73152" cy="4389120"/>
          </a:xfrm>
          <a:prstGeom prst="rect">
            <a:avLst/>
          </a:prstGeom>
          <a:solidFill>
            <a:srgbClr val="065A82"/>
          </a:solidFill>
          <a:ln w="12700">
            <a:solidFill>
              <a:srgbClr val="065A82"/>
            </a:solidFill>
            <a:prstDash val="solid"/>
          </a:ln>
        </p:spPr>
      </p:sp>
      <p:sp>
        <p:nvSpPr>
          <p:cNvPr id="20" name="Text 18"/>
          <p:cNvSpPr/>
          <p:nvPr/>
        </p:nvSpPr>
        <p:spPr>
          <a:xfrm>
            <a:off x="8275320" y="1737360"/>
            <a:ext cx="3108960" cy="548640"/>
          </a:xfrm>
          <a:prstGeom prst="rect">
            <a:avLst/>
          </a:prstGeom>
          <a:noFill/>
          <a:ln/>
        </p:spPr>
        <p:txBody>
          <a:bodyPr wrap="square" lIns="0" tIns="0" rIns="0" bIns="0" rtlCol="0" anchor="ctr"/>
          <a:lstStyle/>
          <a:p>
            <a:pPr indent="0" marL="0">
              <a:buNone/>
            </a:pPr>
            <a:r>
              <a:rPr lang="en-US" sz="1800" b="1" dirty="0">
                <a:solidFill>
                  <a:srgbClr val="21295C"/>
                </a:solidFill>
                <a:latin typeface="Cambria" pitchFamily="34" charset="0"/>
                <a:ea typeface="Cambria" pitchFamily="34" charset="-122"/>
                <a:cs typeface="Cambria" pitchFamily="34" charset="-120"/>
              </a:rPr>
              <a:t>Already-seen exclusion</a:t>
            </a:r>
            <a:endParaRPr lang="en-US" sz="1800" dirty="0"/>
          </a:p>
        </p:txBody>
      </p:sp>
      <p:sp>
        <p:nvSpPr>
          <p:cNvPr id="21" name="Text 19"/>
          <p:cNvSpPr/>
          <p:nvPr/>
        </p:nvSpPr>
        <p:spPr>
          <a:xfrm>
            <a:off x="8275320" y="2331720"/>
            <a:ext cx="3108960" cy="246888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Built into both scoring loops. A child never sees a recommendation for a book they already favorited or finished reading.</a:t>
            </a:r>
            <a:endParaRPr lang="en-US" sz="1200" dirty="0"/>
          </a:p>
        </p:txBody>
      </p:sp>
      <p:sp>
        <p:nvSpPr>
          <p:cNvPr id="22" name="Shape 20"/>
          <p:cNvSpPr/>
          <p:nvPr/>
        </p:nvSpPr>
        <p:spPr>
          <a:xfrm>
            <a:off x="8275320" y="4937760"/>
            <a:ext cx="3108960" cy="868680"/>
          </a:xfrm>
          <a:prstGeom prst="rect">
            <a:avLst/>
          </a:prstGeom>
          <a:solidFill>
            <a:srgbClr val="21295C"/>
          </a:solidFill>
          <a:ln w="12700">
            <a:solidFill>
              <a:srgbClr val="21295C"/>
            </a:solidFill>
            <a:prstDash val="solid"/>
          </a:ln>
        </p:spPr>
      </p:sp>
      <p:sp>
        <p:nvSpPr>
          <p:cNvPr id="23" name="Text 21"/>
          <p:cNvSpPr/>
          <p:nvPr/>
        </p:nvSpPr>
        <p:spPr>
          <a:xfrm>
            <a:off x="8412480" y="5029200"/>
            <a:ext cx="2834640" cy="685800"/>
          </a:xfrm>
          <a:prstGeom prst="rect">
            <a:avLst/>
          </a:prstGeom>
          <a:noFill/>
          <a:ln/>
        </p:spPr>
        <p:txBody>
          <a:bodyPr wrap="square" lIns="0" tIns="0" rIns="0" bIns="0" rtlCol="0" anchor="t"/>
          <a:lstStyle/>
          <a:p>
            <a:pPr algn="l" indent="0" marL="0">
              <a:buNone/>
            </a:pPr>
            <a:r>
              <a:rPr lang="en-US" sz="1100" dirty="0">
                <a:solidFill>
                  <a:srgbClr val="E2E8F0"/>
                </a:solidFill>
                <a:latin typeface="Consolas" pitchFamily="34" charset="0"/>
                <a:ea typeface="Consolas" pitchFamily="34" charset="-122"/>
                <a:cs typeface="Consolas" pitchFamily="34" charset="-120"/>
              </a:rPr>
              <a:t>if (itemId in seenItemIds) continue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65A82"/>
          </a:solidFill>
          <a:ln w="12700">
            <a:solidFill>
              <a:srgbClr val="065A82"/>
            </a:solidFill>
            <a:prstDash val="solid"/>
          </a:ln>
        </p:spPr>
      </p:sp>
      <p:sp>
        <p:nvSpPr>
          <p:cNvPr id="3" name="Text 1"/>
          <p:cNvSpPr/>
          <p:nvPr/>
        </p:nvSpPr>
        <p:spPr>
          <a:xfrm>
            <a:off x="457200" y="320040"/>
            <a:ext cx="11430000" cy="59436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Complexity &amp; Scalability</a:t>
            </a:r>
            <a:endParaRPr lang="en-US" sz="3200" dirty="0"/>
          </a:p>
        </p:txBody>
      </p:sp>
      <p:sp>
        <p:nvSpPr>
          <p:cNvPr id="4" name="Text 2"/>
          <p:cNvSpPr/>
          <p:nvPr/>
        </p:nvSpPr>
        <p:spPr>
          <a:xfrm>
            <a:off x="457200" y="914400"/>
            <a:ext cx="11430000" cy="36576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What works at FYP scale; what needs to change</a:t>
            </a:r>
            <a:endParaRPr lang="en-US" sz="1400" dirty="0"/>
          </a:p>
        </p:txBody>
      </p:sp>
      <p:sp>
        <p:nvSpPr>
          <p:cNvPr id="5" name="Text 3"/>
          <p:cNvSpPr/>
          <p:nvPr/>
        </p:nvSpPr>
        <p:spPr>
          <a:xfrm>
            <a:off x="457200" y="6492240"/>
            <a:ext cx="548640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Little Dino · FYP26S123</a:t>
            </a:r>
            <a:endParaRPr lang="en-US" sz="900" dirty="0"/>
          </a:p>
        </p:txBody>
      </p:sp>
      <p:sp>
        <p:nvSpPr>
          <p:cNvPr id="6" name="Shape 4"/>
          <p:cNvSpPr/>
          <p:nvPr/>
        </p:nvSpPr>
        <p:spPr>
          <a:xfrm>
            <a:off x="548640" y="1554480"/>
            <a:ext cx="5760720" cy="4297680"/>
          </a:xfrm>
          <a:prstGeom prst="rect">
            <a:avLst/>
          </a:prstGeom>
          <a:solidFill>
            <a:srgbClr val="FFFFFF"/>
          </a:solidFill>
          <a:ln w="12700">
            <a:solidFill>
              <a:srgbClr val="E2E8F0"/>
            </a:solidFill>
            <a:prstDash val="solid"/>
          </a:ln>
        </p:spPr>
      </p:sp>
      <p:sp>
        <p:nvSpPr>
          <p:cNvPr id="7" name="Text 5"/>
          <p:cNvSpPr/>
          <p:nvPr/>
        </p:nvSpPr>
        <p:spPr>
          <a:xfrm>
            <a:off x="731520" y="1691640"/>
            <a:ext cx="5486400" cy="365760"/>
          </a:xfrm>
          <a:prstGeom prst="rect">
            <a:avLst/>
          </a:prstGeom>
          <a:noFill/>
          <a:ln/>
        </p:spPr>
        <p:txBody>
          <a:bodyPr wrap="square" lIns="0" tIns="0" rIns="0" bIns="0" rtlCol="0" anchor="ctr"/>
          <a:lstStyle/>
          <a:p>
            <a:pPr indent="0" marL="0">
              <a:buNone/>
            </a:pPr>
            <a:r>
              <a:rPr lang="en-US" sz="1400" b="1" dirty="0">
                <a:solidFill>
                  <a:srgbClr val="21295C"/>
                </a:solidFill>
                <a:latin typeface="Cambria" pitchFamily="34" charset="0"/>
                <a:ea typeface="Cambria" pitchFamily="34" charset="-122"/>
                <a:cs typeface="Cambria" pitchFamily="34" charset="-120"/>
              </a:rPr>
              <a:t>Time complexity per request</a:t>
            </a:r>
            <a:endParaRPr lang="en-US" sz="1400" dirty="0"/>
          </a:p>
        </p:txBody>
      </p:sp>
      <p:sp>
        <p:nvSpPr>
          <p:cNvPr id="8" name="Text 6"/>
          <p:cNvSpPr/>
          <p:nvPr/>
        </p:nvSpPr>
        <p:spPr>
          <a:xfrm>
            <a:off x="731520" y="2103120"/>
            <a:ext cx="1828800" cy="320040"/>
          </a:xfrm>
          <a:prstGeom prst="rect">
            <a:avLst/>
          </a:prstGeom>
          <a:noFill/>
          <a:ln/>
        </p:spPr>
        <p:txBody>
          <a:bodyPr wrap="square" lIns="0" tIns="0" rIns="0" bIns="0" rtlCol="0" anchor="ctr"/>
          <a:lstStyle/>
          <a:p>
            <a:pPr indent="0" marL="0">
              <a:buNone/>
            </a:pPr>
            <a:r>
              <a:rPr lang="en-US" sz="1100" b="1" dirty="0">
                <a:solidFill>
                  <a:srgbClr val="1F2937"/>
                </a:solidFill>
                <a:latin typeface="Calibri" pitchFamily="34" charset="0"/>
                <a:ea typeface="Calibri" pitchFamily="34" charset="-122"/>
                <a:cs typeface="Calibri" pitchFamily="34" charset="-120"/>
              </a:rPr>
              <a:t>Load interactions</a:t>
            </a:r>
            <a:endParaRPr lang="en-US" sz="1100" dirty="0"/>
          </a:p>
        </p:txBody>
      </p:sp>
      <p:sp>
        <p:nvSpPr>
          <p:cNvPr id="9" name="Text 7"/>
          <p:cNvSpPr/>
          <p:nvPr/>
        </p:nvSpPr>
        <p:spPr>
          <a:xfrm>
            <a:off x="2606040" y="2103120"/>
            <a:ext cx="1463040" cy="320040"/>
          </a:xfrm>
          <a:prstGeom prst="rect">
            <a:avLst/>
          </a:prstGeom>
          <a:noFill/>
          <a:ln/>
        </p:spPr>
        <p:txBody>
          <a:bodyPr wrap="square" lIns="0" tIns="0" rIns="0" bIns="0" rtlCol="0" anchor="ctr"/>
          <a:lstStyle/>
          <a:p>
            <a:pPr indent="0" marL="0">
              <a:buNone/>
            </a:pPr>
            <a:r>
              <a:rPr lang="en-US" sz="1100" dirty="0">
                <a:solidFill>
                  <a:srgbClr val="065A82"/>
                </a:solidFill>
                <a:latin typeface="Consolas" pitchFamily="34" charset="0"/>
                <a:ea typeface="Consolas" pitchFamily="34" charset="-122"/>
                <a:cs typeface="Consolas" pitchFamily="34" charset="-120"/>
              </a:rPr>
              <a:t>O(U) parallel reads</a:t>
            </a:r>
            <a:endParaRPr lang="en-US" sz="1100" dirty="0"/>
          </a:p>
        </p:txBody>
      </p:sp>
      <p:sp>
        <p:nvSpPr>
          <p:cNvPr id="10" name="Text 8"/>
          <p:cNvSpPr/>
          <p:nvPr/>
        </p:nvSpPr>
        <p:spPr>
          <a:xfrm>
            <a:off x="4114800" y="2103120"/>
            <a:ext cx="2103120" cy="32004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U = users with activity</a:t>
            </a:r>
            <a:endParaRPr lang="en-US" sz="1000" dirty="0"/>
          </a:p>
        </p:txBody>
      </p:sp>
      <p:sp>
        <p:nvSpPr>
          <p:cNvPr id="11" name="Text 9"/>
          <p:cNvSpPr/>
          <p:nvPr/>
        </p:nvSpPr>
        <p:spPr>
          <a:xfrm>
            <a:off x="731520" y="2560320"/>
            <a:ext cx="1828800" cy="320040"/>
          </a:xfrm>
          <a:prstGeom prst="rect">
            <a:avLst/>
          </a:prstGeom>
          <a:noFill/>
          <a:ln/>
        </p:spPr>
        <p:txBody>
          <a:bodyPr wrap="square" lIns="0" tIns="0" rIns="0" bIns="0" rtlCol="0" anchor="ctr"/>
          <a:lstStyle/>
          <a:p>
            <a:pPr indent="0" marL="0">
              <a:buNone/>
            </a:pPr>
            <a:r>
              <a:rPr lang="en-US" sz="1100" b="1" dirty="0">
                <a:solidFill>
                  <a:srgbClr val="1F2937"/>
                </a:solidFill>
                <a:latin typeface="Calibri" pitchFamily="34" charset="0"/>
                <a:ea typeface="Calibri" pitchFamily="34" charset="-122"/>
                <a:cs typeface="Calibri" pitchFamily="34" charset="-120"/>
              </a:rPr>
              <a:t>Build matrix</a:t>
            </a:r>
            <a:endParaRPr lang="en-US" sz="1100" dirty="0"/>
          </a:p>
        </p:txBody>
      </p:sp>
      <p:sp>
        <p:nvSpPr>
          <p:cNvPr id="12" name="Text 10"/>
          <p:cNvSpPr/>
          <p:nvPr/>
        </p:nvSpPr>
        <p:spPr>
          <a:xfrm>
            <a:off x="2606040" y="2560320"/>
            <a:ext cx="1463040" cy="320040"/>
          </a:xfrm>
          <a:prstGeom prst="rect">
            <a:avLst/>
          </a:prstGeom>
          <a:noFill/>
          <a:ln/>
        </p:spPr>
        <p:txBody>
          <a:bodyPr wrap="square" lIns="0" tIns="0" rIns="0" bIns="0" rtlCol="0" anchor="ctr"/>
          <a:lstStyle/>
          <a:p>
            <a:pPr indent="0" marL="0">
              <a:buNone/>
            </a:pPr>
            <a:r>
              <a:rPr lang="en-US" sz="1100" dirty="0">
                <a:solidFill>
                  <a:srgbClr val="065A82"/>
                </a:solidFill>
                <a:latin typeface="Consolas" pitchFamily="34" charset="0"/>
                <a:ea typeface="Consolas" pitchFamily="34" charset="-122"/>
                <a:cs typeface="Consolas" pitchFamily="34" charset="-120"/>
              </a:rPr>
              <a:t>O(I)</a:t>
            </a:r>
            <a:endParaRPr lang="en-US" sz="1100" dirty="0"/>
          </a:p>
        </p:txBody>
      </p:sp>
      <p:sp>
        <p:nvSpPr>
          <p:cNvPr id="13" name="Text 11"/>
          <p:cNvSpPr/>
          <p:nvPr/>
        </p:nvSpPr>
        <p:spPr>
          <a:xfrm>
            <a:off x="4114800" y="2560320"/>
            <a:ext cx="2103120" cy="32004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I = total interactions</a:t>
            </a:r>
            <a:endParaRPr lang="en-US" sz="1000" dirty="0"/>
          </a:p>
        </p:txBody>
      </p:sp>
      <p:sp>
        <p:nvSpPr>
          <p:cNvPr id="14" name="Text 12"/>
          <p:cNvSpPr/>
          <p:nvPr/>
        </p:nvSpPr>
        <p:spPr>
          <a:xfrm>
            <a:off x="731520" y="3017520"/>
            <a:ext cx="1828800" cy="320040"/>
          </a:xfrm>
          <a:prstGeom prst="rect">
            <a:avLst/>
          </a:prstGeom>
          <a:noFill/>
          <a:ln/>
        </p:spPr>
        <p:txBody>
          <a:bodyPr wrap="square" lIns="0" tIns="0" rIns="0" bIns="0" rtlCol="0" anchor="ctr"/>
          <a:lstStyle/>
          <a:p>
            <a:pPr indent="0" marL="0">
              <a:buNone/>
            </a:pPr>
            <a:r>
              <a:rPr lang="en-US" sz="1100" b="1" dirty="0">
                <a:solidFill>
                  <a:srgbClr val="1F2937"/>
                </a:solidFill>
                <a:latin typeface="Calibri" pitchFamily="34" charset="0"/>
                <a:ea typeface="Calibri" pitchFamily="34" charset="-122"/>
                <a:cs typeface="Calibri" pitchFamily="34" charset="-120"/>
              </a:rPr>
              <a:t>User-based scoring</a:t>
            </a:r>
            <a:endParaRPr lang="en-US" sz="1100" dirty="0"/>
          </a:p>
        </p:txBody>
      </p:sp>
      <p:sp>
        <p:nvSpPr>
          <p:cNvPr id="15" name="Text 13"/>
          <p:cNvSpPr/>
          <p:nvPr/>
        </p:nvSpPr>
        <p:spPr>
          <a:xfrm>
            <a:off x="2606040" y="3017520"/>
            <a:ext cx="1463040" cy="320040"/>
          </a:xfrm>
          <a:prstGeom prst="rect">
            <a:avLst/>
          </a:prstGeom>
          <a:noFill/>
          <a:ln/>
        </p:spPr>
        <p:txBody>
          <a:bodyPr wrap="square" lIns="0" tIns="0" rIns="0" bIns="0" rtlCol="0" anchor="ctr"/>
          <a:lstStyle/>
          <a:p>
            <a:pPr indent="0" marL="0">
              <a:buNone/>
            </a:pPr>
            <a:r>
              <a:rPr lang="en-US" sz="1100" dirty="0">
                <a:solidFill>
                  <a:srgbClr val="065A82"/>
                </a:solidFill>
                <a:latin typeface="Consolas" pitchFamily="34" charset="0"/>
                <a:ea typeface="Consolas" pitchFamily="34" charset="-122"/>
                <a:cs typeface="Consolas" pitchFamily="34" charset="-120"/>
              </a:rPr>
              <a:t>O(U² × Ī)</a:t>
            </a:r>
            <a:endParaRPr lang="en-US" sz="1100" dirty="0"/>
          </a:p>
        </p:txBody>
      </p:sp>
      <p:sp>
        <p:nvSpPr>
          <p:cNvPr id="16" name="Text 14"/>
          <p:cNvSpPr/>
          <p:nvPr/>
        </p:nvSpPr>
        <p:spPr>
          <a:xfrm>
            <a:off x="4114800" y="3017520"/>
            <a:ext cx="2103120" cy="32004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Ī = avg items per user</a:t>
            </a:r>
            <a:endParaRPr lang="en-US" sz="1000" dirty="0"/>
          </a:p>
        </p:txBody>
      </p:sp>
      <p:sp>
        <p:nvSpPr>
          <p:cNvPr id="17" name="Text 15"/>
          <p:cNvSpPr/>
          <p:nvPr/>
        </p:nvSpPr>
        <p:spPr>
          <a:xfrm>
            <a:off x="731520" y="3474720"/>
            <a:ext cx="1828800" cy="320040"/>
          </a:xfrm>
          <a:prstGeom prst="rect">
            <a:avLst/>
          </a:prstGeom>
          <a:noFill/>
          <a:ln/>
        </p:spPr>
        <p:txBody>
          <a:bodyPr wrap="square" lIns="0" tIns="0" rIns="0" bIns="0" rtlCol="0" anchor="ctr"/>
          <a:lstStyle/>
          <a:p>
            <a:pPr indent="0" marL="0">
              <a:buNone/>
            </a:pPr>
            <a:r>
              <a:rPr lang="en-US" sz="1100" b="1" dirty="0">
                <a:solidFill>
                  <a:srgbClr val="1F2937"/>
                </a:solidFill>
                <a:latin typeface="Calibri" pitchFamily="34" charset="0"/>
                <a:ea typeface="Calibri" pitchFamily="34" charset="-122"/>
                <a:cs typeface="Calibri" pitchFamily="34" charset="-120"/>
              </a:rPr>
              <a:t>Item-based scoring</a:t>
            </a:r>
            <a:endParaRPr lang="en-US" sz="1100" dirty="0"/>
          </a:p>
        </p:txBody>
      </p:sp>
      <p:sp>
        <p:nvSpPr>
          <p:cNvPr id="18" name="Text 16"/>
          <p:cNvSpPr/>
          <p:nvPr/>
        </p:nvSpPr>
        <p:spPr>
          <a:xfrm>
            <a:off x="2606040" y="3474720"/>
            <a:ext cx="1463040" cy="320040"/>
          </a:xfrm>
          <a:prstGeom prst="rect">
            <a:avLst/>
          </a:prstGeom>
          <a:noFill/>
          <a:ln/>
        </p:spPr>
        <p:txBody>
          <a:bodyPr wrap="square" lIns="0" tIns="0" rIns="0" bIns="0" rtlCol="0" anchor="ctr"/>
          <a:lstStyle/>
          <a:p>
            <a:pPr indent="0" marL="0">
              <a:buNone/>
            </a:pPr>
            <a:r>
              <a:rPr lang="en-US" sz="1100" dirty="0">
                <a:solidFill>
                  <a:srgbClr val="065A82"/>
                </a:solidFill>
                <a:latin typeface="Consolas" pitchFamily="34" charset="0"/>
                <a:ea typeface="Consolas" pitchFamily="34" charset="-122"/>
                <a:cs typeface="Consolas" pitchFamily="34" charset="-120"/>
              </a:rPr>
              <a:t>O(M² × Ū)</a:t>
            </a:r>
            <a:endParaRPr lang="en-US" sz="1100" dirty="0"/>
          </a:p>
        </p:txBody>
      </p:sp>
      <p:sp>
        <p:nvSpPr>
          <p:cNvPr id="19" name="Text 17"/>
          <p:cNvSpPr/>
          <p:nvPr/>
        </p:nvSpPr>
        <p:spPr>
          <a:xfrm>
            <a:off x="4114800" y="3474720"/>
            <a:ext cx="2103120" cy="32004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M = unique items, Ū = avg users per item</a:t>
            </a:r>
            <a:endParaRPr lang="en-US" sz="1000" dirty="0"/>
          </a:p>
        </p:txBody>
      </p:sp>
      <p:sp>
        <p:nvSpPr>
          <p:cNvPr id="20" name="Text 18"/>
          <p:cNvSpPr/>
          <p:nvPr/>
        </p:nvSpPr>
        <p:spPr>
          <a:xfrm>
            <a:off x="731520" y="3931920"/>
            <a:ext cx="1828800" cy="320040"/>
          </a:xfrm>
          <a:prstGeom prst="rect">
            <a:avLst/>
          </a:prstGeom>
          <a:noFill/>
          <a:ln/>
        </p:spPr>
        <p:txBody>
          <a:bodyPr wrap="square" lIns="0" tIns="0" rIns="0" bIns="0" rtlCol="0" anchor="ctr"/>
          <a:lstStyle/>
          <a:p>
            <a:pPr indent="0" marL="0">
              <a:buNone/>
            </a:pPr>
            <a:r>
              <a:rPr lang="en-US" sz="1100" b="1" dirty="0">
                <a:solidFill>
                  <a:srgbClr val="1F2937"/>
                </a:solidFill>
                <a:latin typeface="Calibri" pitchFamily="34" charset="0"/>
                <a:ea typeface="Calibri" pitchFamily="34" charset="-122"/>
                <a:cs typeface="Calibri" pitchFamily="34" charset="-120"/>
              </a:rPr>
              <a:t>Sort + take(8)</a:t>
            </a:r>
            <a:endParaRPr lang="en-US" sz="1100" dirty="0"/>
          </a:p>
        </p:txBody>
      </p:sp>
      <p:sp>
        <p:nvSpPr>
          <p:cNvPr id="21" name="Text 19"/>
          <p:cNvSpPr/>
          <p:nvPr/>
        </p:nvSpPr>
        <p:spPr>
          <a:xfrm>
            <a:off x="2606040" y="3931920"/>
            <a:ext cx="1463040" cy="320040"/>
          </a:xfrm>
          <a:prstGeom prst="rect">
            <a:avLst/>
          </a:prstGeom>
          <a:noFill/>
          <a:ln/>
        </p:spPr>
        <p:txBody>
          <a:bodyPr wrap="square" lIns="0" tIns="0" rIns="0" bIns="0" rtlCol="0" anchor="ctr"/>
          <a:lstStyle/>
          <a:p>
            <a:pPr indent="0" marL="0">
              <a:buNone/>
            </a:pPr>
            <a:r>
              <a:rPr lang="en-US" sz="1100" dirty="0">
                <a:solidFill>
                  <a:srgbClr val="065A82"/>
                </a:solidFill>
                <a:latin typeface="Consolas" pitchFamily="34" charset="0"/>
                <a:ea typeface="Consolas" pitchFamily="34" charset="-122"/>
                <a:cs typeface="Consolas" pitchFamily="34" charset="-120"/>
              </a:rPr>
              <a:t>O(C log C)</a:t>
            </a:r>
            <a:endParaRPr lang="en-US" sz="1100" dirty="0"/>
          </a:p>
        </p:txBody>
      </p:sp>
      <p:sp>
        <p:nvSpPr>
          <p:cNvPr id="22" name="Text 20"/>
          <p:cNvSpPr/>
          <p:nvPr/>
        </p:nvSpPr>
        <p:spPr>
          <a:xfrm>
            <a:off x="4114800" y="3931920"/>
            <a:ext cx="2103120" cy="32004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C = candidate items</a:t>
            </a:r>
            <a:endParaRPr lang="en-US" sz="1000" dirty="0"/>
          </a:p>
        </p:txBody>
      </p:sp>
      <p:sp>
        <p:nvSpPr>
          <p:cNvPr id="23" name="Text 21"/>
          <p:cNvSpPr/>
          <p:nvPr/>
        </p:nvSpPr>
        <p:spPr>
          <a:xfrm>
            <a:off x="731520" y="5029200"/>
            <a:ext cx="5486400" cy="640080"/>
          </a:xfrm>
          <a:prstGeom prst="rect">
            <a:avLst/>
          </a:prstGeom>
          <a:noFill/>
          <a:ln/>
        </p:spPr>
        <p:txBody>
          <a:bodyPr wrap="square" lIns="0" tIns="0" rIns="0" bIns="0" rtlCol="0" anchor="t"/>
          <a:lstStyle/>
          <a:p>
            <a:pPr indent="0" marL="0">
              <a:buNone/>
            </a:pPr>
            <a:r>
              <a:rPr lang="en-US" sz="1100" i="1" dirty="0">
                <a:solidFill>
                  <a:srgbClr val="1F2937"/>
                </a:solidFill>
                <a:latin typeface="Calibri" pitchFamily="34" charset="0"/>
                <a:ea typeface="Calibri" pitchFamily="34" charset="-122"/>
                <a:cs typeface="Calibri" pitchFamily="34" charset="-120"/>
              </a:rPr>
              <a:t>User-based dominates. Quadratic in active users. Acceptable up to a few thousand active children; beyond that, batch precomputation needed.</a:t>
            </a:r>
            <a:endParaRPr lang="en-US" sz="1100" dirty="0"/>
          </a:p>
        </p:txBody>
      </p:sp>
      <p:sp>
        <p:nvSpPr>
          <p:cNvPr id="24" name="Shape 22"/>
          <p:cNvSpPr/>
          <p:nvPr/>
        </p:nvSpPr>
        <p:spPr>
          <a:xfrm>
            <a:off x="6492240" y="1554480"/>
            <a:ext cx="5303520" cy="4297680"/>
          </a:xfrm>
          <a:prstGeom prst="rect">
            <a:avLst/>
          </a:prstGeom>
          <a:solidFill>
            <a:srgbClr val="065A82"/>
          </a:solidFill>
          <a:ln w="12700">
            <a:solidFill>
              <a:srgbClr val="065A82"/>
            </a:solidFill>
            <a:prstDash val="solid"/>
          </a:ln>
        </p:spPr>
      </p:sp>
      <p:sp>
        <p:nvSpPr>
          <p:cNvPr id="25" name="Text 23"/>
          <p:cNvSpPr/>
          <p:nvPr/>
        </p:nvSpPr>
        <p:spPr>
          <a:xfrm>
            <a:off x="6675120" y="1691640"/>
            <a:ext cx="4937760" cy="36576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Scaling roadmap</a:t>
            </a:r>
            <a:endParaRPr lang="en-US" sz="1400" dirty="0"/>
          </a:p>
        </p:txBody>
      </p:sp>
      <p:sp>
        <p:nvSpPr>
          <p:cNvPr id="26" name="Text 24"/>
          <p:cNvSpPr/>
          <p:nvPr/>
        </p:nvSpPr>
        <p:spPr>
          <a:xfrm>
            <a:off x="6675120" y="2103120"/>
            <a:ext cx="4937760" cy="3657600"/>
          </a:xfrm>
          <a:prstGeom prst="rect">
            <a:avLst/>
          </a:prstGeom>
          <a:noFill/>
          <a:ln/>
        </p:spPr>
        <p:txBody>
          <a:bodyPr wrap="square" lIns="0" tIns="0" rIns="0" bIns="0" rtlCol="0" anchor="t"/>
          <a:lstStyle/>
          <a:p>
            <a:pPr indent="0" marL="0">
              <a:spcAft>
                <a:spcPts val="600"/>
              </a:spcAft>
              <a:buNone/>
            </a:pPr>
            <a:r>
              <a:rPr lang="en-US" sz="1200" b="1" dirty="0">
                <a:solidFill>
                  <a:srgbClr val="F9E795"/>
                </a:solidFill>
                <a:latin typeface="Calibri" pitchFamily="34" charset="0"/>
                <a:ea typeface="Calibri" pitchFamily="34" charset="-122"/>
                <a:cs typeface="Calibri" pitchFamily="34" charset="-120"/>
              </a:rPr>
              <a:t>Phase 1 — current (FYP scale)</a:t>
            </a:r>
            <a:endParaRPr lang="en-US" sz="1200" dirty="0"/>
          </a:p>
          <a:p>
            <a:pPr indent="0" marL="0">
              <a:spcAft>
                <a:spcPts val="600"/>
              </a:spcAft>
              <a:buNone/>
            </a:pPr>
            <a:r>
              <a:rPr lang="en-US" sz="1200" dirty="0">
                <a:solidFill>
                  <a:srgbClr val="FFFFFF"/>
                </a:solidFill>
                <a:latin typeface="Calibri" pitchFamily="34" charset="0"/>
                <a:ea typeface="Calibri" pitchFamily="34" charset="-122"/>
                <a:cs typeface="Calibri" pitchFamily="34" charset="-120"/>
              </a:rPr>
              <a:t>On-demand client-side compute. Parallel async fetches. Up to ~1000 active users.</a:t>
            </a:r>
            <a:endParaRPr lang="en-US" sz="1200" dirty="0"/>
          </a:p>
          <a:p>
            <a:pPr indent="0" marL="0">
              <a:spcAft>
                <a:spcPts val="600"/>
              </a:spcAft>
              <a:buNone/>
            </a:pPr>
            <a:endParaRPr lang="en-US" sz="1200" dirty="0"/>
          </a:p>
          <a:p>
            <a:pPr indent="0" marL="0">
              <a:spcAft>
                <a:spcPts val="600"/>
              </a:spcAft>
              <a:buNone/>
            </a:pPr>
            <a:r>
              <a:rPr lang="en-US" sz="1200" b="1" dirty="0">
                <a:solidFill>
                  <a:srgbClr val="F9E795"/>
                </a:solidFill>
                <a:latin typeface="Calibri" pitchFamily="34" charset="0"/>
                <a:ea typeface="Calibri" pitchFamily="34" charset="-122"/>
                <a:cs typeface="Calibri" pitchFamily="34" charset="-120"/>
              </a:rPr>
              <a:t>Phase 2 — Cloud Function batch</a:t>
            </a:r>
            <a:endParaRPr lang="en-US" sz="1200" dirty="0"/>
          </a:p>
          <a:p>
            <a:pPr indent="0" marL="0">
              <a:spcAft>
                <a:spcPts val="600"/>
              </a:spcAft>
              <a:buNone/>
            </a:pPr>
            <a:r>
              <a:rPr lang="en-US" sz="1200" dirty="0">
                <a:solidFill>
                  <a:srgbClr val="FFFFFF"/>
                </a:solidFill>
                <a:latin typeface="Calibri" pitchFamily="34" charset="0"/>
                <a:ea typeface="Calibri" pitchFamily="34" charset="-122"/>
                <a:cs typeface="Calibri" pitchFamily="34" charset="-120"/>
              </a:rPr>
              <a:t>Nightly Cloud Function precomputes top-N per user, writes to a recommendations subcollection. Client reads cached. (Requires Blaze plan.)</a:t>
            </a:r>
            <a:endParaRPr lang="en-US" sz="1200" dirty="0"/>
          </a:p>
          <a:p>
            <a:pPr indent="0" marL="0">
              <a:spcAft>
                <a:spcPts val="600"/>
              </a:spcAft>
              <a:buNone/>
            </a:pPr>
            <a:endParaRPr lang="en-US" sz="1200" dirty="0"/>
          </a:p>
          <a:p>
            <a:pPr indent="0" marL="0">
              <a:spcAft>
                <a:spcPts val="600"/>
              </a:spcAft>
              <a:buNone/>
            </a:pPr>
            <a:r>
              <a:rPr lang="en-US" sz="1200" b="1" dirty="0">
                <a:solidFill>
                  <a:srgbClr val="F9E795"/>
                </a:solidFill>
                <a:latin typeface="Calibri" pitchFamily="34" charset="0"/>
                <a:ea typeface="Calibri" pitchFamily="34" charset="-122"/>
                <a:cs typeface="Calibri" pitchFamily="34" charset="-120"/>
              </a:rPr>
              <a:t>Phase 3 — matrix factorization</a:t>
            </a:r>
            <a:endParaRPr lang="en-US" sz="1200" dirty="0"/>
          </a:p>
          <a:p>
            <a:pPr indent="0" marL="0">
              <a:spcAft>
                <a:spcPts val="600"/>
              </a:spcAft>
              <a:buNone/>
            </a:pPr>
            <a:r>
              <a:rPr lang="en-US" sz="1200" dirty="0">
                <a:solidFill>
                  <a:srgbClr val="FFFFFF"/>
                </a:solidFill>
                <a:latin typeface="Calibri" pitchFamily="34" charset="0"/>
                <a:ea typeface="Calibri" pitchFamily="34" charset="-122"/>
                <a:cs typeface="Calibri" pitchFamily="34" charset="-120"/>
              </a:rPr>
              <a:t>Replace cosine with SVD or ALS. Reduces dense matrix ops, enables embedding-space lookups. Worth it past ~10k users.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65A82"/>
          </a:solidFill>
          <a:ln w="12700">
            <a:solidFill>
              <a:srgbClr val="065A82"/>
            </a:solidFill>
            <a:prstDash val="solid"/>
          </a:ln>
        </p:spPr>
      </p:sp>
      <p:sp>
        <p:nvSpPr>
          <p:cNvPr id="3" name="Text 1"/>
          <p:cNvSpPr/>
          <p:nvPr/>
        </p:nvSpPr>
        <p:spPr>
          <a:xfrm>
            <a:off x="457200" y="320040"/>
            <a:ext cx="11430000" cy="59436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Live Demo</a:t>
            </a:r>
            <a:endParaRPr lang="en-US" sz="3200" dirty="0"/>
          </a:p>
        </p:txBody>
      </p:sp>
      <p:sp>
        <p:nvSpPr>
          <p:cNvPr id="4" name="Text 2"/>
          <p:cNvSpPr/>
          <p:nvPr/>
        </p:nvSpPr>
        <p:spPr>
          <a:xfrm>
            <a:off x="457200" y="914400"/>
            <a:ext cx="11430000" cy="36576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Welcome screen recommendations in production</a:t>
            </a:r>
            <a:endParaRPr lang="en-US" sz="1400" dirty="0"/>
          </a:p>
        </p:txBody>
      </p:sp>
      <p:sp>
        <p:nvSpPr>
          <p:cNvPr id="5" name="Text 3"/>
          <p:cNvSpPr/>
          <p:nvPr/>
        </p:nvSpPr>
        <p:spPr>
          <a:xfrm>
            <a:off x="457200" y="6492240"/>
            <a:ext cx="548640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Little Dino · FYP26S123</a:t>
            </a:r>
            <a:endParaRPr lang="en-US" sz="900" dirty="0"/>
          </a:p>
        </p:txBody>
      </p:sp>
      <p:pic>
        <p:nvPicPr>
          <p:cNvPr id="6" name="Image 0" descr="C:\Users\felix\Downloads\GitHub\FYP26S123-Chatbot-App-for-Book-and-Video-Recommendations-for-Kids\.claude\worktrees\goofy-satoshi-a24d6f\play-store\phone_screenshot_1.png">    </p:cNvPr>
          <p:cNvPicPr>
            <a:picLocks noChangeAspect="1"/>
          </p:cNvPicPr>
          <p:nvPr/>
        </p:nvPicPr>
        <p:blipFill>
          <a:blip r:embed="rId1"/>
          <a:stretch>
            <a:fillRect/>
          </a:stretch>
        </p:blipFill>
        <p:spPr>
          <a:xfrm>
            <a:off x="548640" y="1508760"/>
            <a:ext cx="2926080" cy="5303520"/>
          </a:xfrm>
          <a:prstGeom prst="rect">
            <a:avLst/>
          </a:prstGeom>
        </p:spPr>
      </p:pic>
      <p:sp>
        <p:nvSpPr>
          <p:cNvPr id="7" name="Text 4"/>
          <p:cNvSpPr/>
          <p:nvPr/>
        </p:nvSpPr>
        <p:spPr>
          <a:xfrm>
            <a:off x="3749040" y="1554480"/>
            <a:ext cx="8046720" cy="411480"/>
          </a:xfrm>
          <a:prstGeom prst="rect">
            <a:avLst/>
          </a:prstGeom>
          <a:noFill/>
          <a:ln/>
        </p:spPr>
        <p:txBody>
          <a:bodyPr wrap="square" lIns="0" tIns="0" rIns="0" bIns="0" rtlCol="0" anchor="ctr"/>
          <a:lstStyle/>
          <a:p>
            <a:pPr indent="0" marL="0">
              <a:buNone/>
            </a:pPr>
            <a:r>
              <a:rPr lang="en-US" sz="1800" b="1" dirty="0">
                <a:solidFill>
                  <a:srgbClr val="21295C"/>
                </a:solidFill>
                <a:latin typeface="Cambria" pitchFamily="34" charset="0"/>
                <a:ea typeface="Cambria" pitchFamily="34" charset="-122"/>
                <a:cs typeface="Cambria" pitchFamily="34" charset="-120"/>
              </a:rPr>
              <a:t>What you're seeing</a:t>
            </a:r>
            <a:endParaRPr lang="en-US" sz="1800" dirty="0"/>
          </a:p>
        </p:txBody>
      </p:sp>
      <p:sp>
        <p:nvSpPr>
          <p:cNvPr id="8" name="Text 5"/>
          <p:cNvSpPr/>
          <p:nvPr/>
        </p:nvSpPr>
        <p:spPr>
          <a:xfrm>
            <a:off x="3749040" y="2011680"/>
            <a:ext cx="8046720" cy="20116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Welcome screen — auto-loaded on chat open</a:t>
            </a:r>
            <a:endParaRPr lang="en-US" sz="1300" dirty="0"/>
          </a:p>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Title: "Users like you have…" (CF brand)</a:t>
            </a:r>
            <a:endParaRPr lang="en-US" sz="1300" dirty="0"/>
          </a:p>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Each card: title + age band + match %</a:t>
            </a:r>
            <a:endParaRPr lang="en-US" sz="1300" dirty="0"/>
          </a:p>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Match % = finalScore × 100, rounded — visible explainability</a:t>
            </a:r>
            <a:endParaRPr lang="en-US" sz="1300" dirty="0"/>
          </a:p>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Tap → opens reader / video</a:t>
            </a:r>
            <a:endParaRPr lang="en-US" sz="1300" dirty="0"/>
          </a:p>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Mix enforced: at least 1 BOOK and 1 VIDEO when both available</a:t>
            </a:r>
            <a:endParaRPr lang="en-US" sz="1300" dirty="0"/>
          </a:p>
        </p:txBody>
      </p:sp>
      <p:sp>
        <p:nvSpPr>
          <p:cNvPr id="9" name="Shape 6"/>
          <p:cNvSpPr/>
          <p:nvPr/>
        </p:nvSpPr>
        <p:spPr>
          <a:xfrm>
            <a:off x="3749040" y="4206240"/>
            <a:ext cx="8046720" cy="2468880"/>
          </a:xfrm>
          <a:prstGeom prst="rect">
            <a:avLst/>
          </a:prstGeom>
          <a:solidFill>
            <a:srgbClr val="065A82"/>
          </a:solidFill>
          <a:ln w="12700">
            <a:solidFill>
              <a:srgbClr val="065A82"/>
            </a:solidFill>
            <a:prstDash val="solid"/>
          </a:ln>
        </p:spPr>
      </p:sp>
      <p:sp>
        <p:nvSpPr>
          <p:cNvPr id="10" name="Text 7"/>
          <p:cNvSpPr/>
          <p:nvPr/>
        </p:nvSpPr>
        <p:spPr>
          <a:xfrm>
            <a:off x="3931920" y="4343400"/>
            <a:ext cx="7680960" cy="365760"/>
          </a:xfrm>
          <a:prstGeom prst="rect">
            <a:avLst/>
          </a:prstGeom>
          <a:noFill/>
          <a:ln/>
        </p:spPr>
        <p:txBody>
          <a:bodyPr wrap="square" lIns="0" tIns="0" rIns="0" bIns="0" rtlCol="0" anchor="ctr"/>
          <a:lstStyle/>
          <a:p>
            <a:pPr indent="0" marL="0">
              <a:buNone/>
            </a:pPr>
            <a:r>
              <a:rPr lang="en-US" sz="1400" b="1" dirty="0">
                <a:solidFill>
                  <a:srgbClr val="F9E795"/>
                </a:solidFill>
                <a:latin typeface="Cambria" pitchFamily="34" charset="0"/>
                <a:ea typeface="Cambria" pitchFamily="34" charset="-122"/>
                <a:cs typeface="Cambria" pitchFamily="34" charset="-120"/>
              </a:rPr>
              <a:t>Behavioral evaluation (informal)</a:t>
            </a:r>
            <a:endParaRPr lang="en-US" sz="1400" dirty="0"/>
          </a:p>
        </p:txBody>
      </p:sp>
      <p:sp>
        <p:nvSpPr>
          <p:cNvPr id="11" name="Text 8"/>
          <p:cNvSpPr/>
          <p:nvPr/>
        </p:nvSpPr>
        <p:spPr>
          <a:xfrm>
            <a:off x="3931920" y="4754880"/>
            <a:ext cx="7680960" cy="1828800"/>
          </a:xfrm>
          <a:prstGeom prst="rect">
            <a:avLst/>
          </a:prstGeom>
          <a:noFill/>
          <a:ln/>
        </p:spPr>
        <p:txBody>
          <a:bodyPr wrap="square" lIns="0" tIns="0" rIns="0" bIns="0" rtlCol="0" anchor="t"/>
          <a:lstStyle/>
          <a:p>
            <a:pPr indent="0" marL="0">
              <a:spcAft>
                <a:spcPts val="400"/>
              </a:spcAft>
              <a:buNone/>
            </a:pPr>
            <a:r>
              <a:rPr lang="en-US" sz="1200" dirty="0">
                <a:solidFill>
                  <a:srgbClr val="FFFFFF"/>
                </a:solidFill>
                <a:latin typeface="Calibri" pitchFamily="34" charset="0"/>
                <a:ea typeface="Calibri" pitchFamily="34" charset="-122"/>
                <a:cs typeface="Calibri" pitchFamily="34" charset="-120"/>
              </a:rPr>
              <a:t>Cold start: with &lt;5 interactions, falls through to popularity-by-category. Acceptable for new users.</a:t>
            </a:r>
            <a:endParaRPr lang="en-US" sz="1200" dirty="0"/>
          </a:p>
          <a:p>
            <a:pPr indent="0" marL="0">
              <a:spcAft>
                <a:spcPts val="400"/>
              </a:spcAft>
              <a:buNone/>
            </a:pPr>
            <a:r>
              <a:rPr lang="en-US" sz="1200" dirty="0">
                <a:solidFill>
                  <a:srgbClr val="FFFFFF"/>
                </a:solidFill>
                <a:latin typeface="Calibri" pitchFamily="34" charset="0"/>
                <a:ea typeface="Calibri" pitchFamily="34" charset="-122"/>
                <a:cs typeface="Calibri" pitchFamily="34" charset="-120"/>
              </a:rPr>
              <a:t>Sparse user (~10 interactions): user-based dominates — pulls items from peer favorites.</a:t>
            </a:r>
            <a:endParaRPr lang="en-US" sz="1200" dirty="0"/>
          </a:p>
          <a:p>
            <a:pPr indent="0" marL="0">
              <a:spcAft>
                <a:spcPts val="400"/>
              </a:spcAft>
              <a:buNone/>
            </a:pPr>
            <a:r>
              <a:rPr lang="en-US" sz="1200" dirty="0">
                <a:solidFill>
                  <a:srgbClr val="FFFFFF"/>
                </a:solidFill>
                <a:latin typeface="Calibri" pitchFamily="34" charset="0"/>
                <a:ea typeface="Calibri" pitchFamily="34" charset="-122"/>
                <a:cs typeface="Calibri" pitchFamily="34" charset="-120"/>
              </a:rPr>
              <a:t>Active user (~50+ interactions): item-based pulls more weight; recommendations narrow toward established taste.</a:t>
            </a:r>
            <a:endParaRPr lang="en-US" sz="1200" dirty="0"/>
          </a:p>
          <a:p>
            <a:pPr indent="0" marL="0">
              <a:spcAft>
                <a:spcPts val="400"/>
              </a:spcAft>
              <a:buNone/>
            </a:pPr>
            <a:r>
              <a:rPr lang="en-US" sz="1200" dirty="0">
                <a:solidFill>
                  <a:srgbClr val="FFFFFF"/>
                </a:solidFill>
                <a:latin typeface="Calibri" pitchFamily="34" charset="0"/>
                <a:ea typeface="Calibri" pitchFamily="34" charset="-122"/>
                <a:cs typeface="Calibri" pitchFamily="34" charset="-120"/>
              </a:rPr>
              <a:t>Recommendations regenerate every chat open — no staleness.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65A82"/>
          </a:solidFill>
          <a:ln w="12700">
            <a:solidFill>
              <a:srgbClr val="065A82"/>
            </a:solidFill>
            <a:prstDash val="solid"/>
          </a:ln>
        </p:spPr>
      </p:sp>
      <p:sp>
        <p:nvSpPr>
          <p:cNvPr id="3" name="Text 1"/>
          <p:cNvSpPr/>
          <p:nvPr/>
        </p:nvSpPr>
        <p:spPr>
          <a:xfrm>
            <a:off x="457200" y="320040"/>
            <a:ext cx="11430000" cy="59436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Engineering Reflections</a:t>
            </a:r>
            <a:endParaRPr lang="en-US" sz="3200" dirty="0"/>
          </a:p>
        </p:txBody>
      </p:sp>
      <p:sp>
        <p:nvSpPr>
          <p:cNvPr id="4" name="Text 2"/>
          <p:cNvSpPr/>
          <p:nvPr/>
        </p:nvSpPr>
        <p:spPr>
          <a:xfrm>
            <a:off x="457200" y="914400"/>
            <a:ext cx="11430000" cy="36576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What I learned building this</a:t>
            </a:r>
            <a:endParaRPr lang="en-US" sz="1400" dirty="0"/>
          </a:p>
        </p:txBody>
      </p:sp>
      <p:sp>
        <p:nvSpPr>
          <p:cNvPr id="5" name="Text 3"/>
          <p:cNvSpPr/>
          <p:nvPr/>
        </p:nvSpPr>
        <p:spPr>
          <a:xfrm>
            <a:off x="457200" y="6492240"/>
            <a:ext cx="548640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Little Dino · FYP26S123</a:t>
            </a:r>
            <a:endParaRPr lang="en-US" sz="900" dirty="0"/>
          </a:p>
        </p:txBody>
      </p:sp>
      <p:sp>
        <p:nvSpPr>
          <p:cNvPr id="6" name="Shape 4"/>
          <p:cNvSpPr/>
          <p:nvPr/>
        </p:nvSpPr>
        <p:spPr>
          <a:xfrm>
            <a:off x="548640" y="1554480"/>
            <a:ext cx="11247120" cy="1051560"/>
          </a:xfrm>
          <a:prstGeom prst="rect">
            <a:avLst/>
          </a:prstGeom>
          <a:solidFill>
            <a:srgbClr val="FFFFFF"/>
          </a:solidFill>
          <a:ln w="12700">
            <a:solidFill>
              <a:srgbClr val="E2E8F0"/>
            </a:solidFill>
            <a:prstDash val="solid"/>
          </a:ln>
          <a:effectLst>
            <a:outerShdw sx="100000" sy="100000" kx="0" ky="0" algn="bl" rotWithShape="0" blurRad="50800" dist="12700" dir="5400000">
              <a:srgbClr val="000000">
                <a:alpha val="6000"/>
              </a:srgbClr>
            </a:outerShdw>
          </a:effectLst>
        </p:spPr>
      </p:sp>
      <p:sp>
        <p:nvSpPr>
          <p:cNvPr id="7" name="Shape 5"/>
          <p:cNvSpPr/>
          <p:nvPr/>
        </p:nvSpPr>
        <p:spPr>
          <a:xfrm>
            <a:off x="548640" y="1554480"/>
            <a:ext cx="109728" cy="1051560"/>
          </a:xfrm>
          <a:prstGeom prst="rect">
            <a:avLst/>
          </a:prstGeom>
          <a:solidFill>
            <a:srgbClr val="065A82"/>
          </a:solidFill>
          <a:ln w="12700">
            <a:solidFill>
              <a:srgbClr val="065A82"/>
            </a:solidFill>
            <a:prstDash val="solid"/>
          </a:ln>
        </p:spPr>
      </p:sp>
      <p:sp>
        <p:nvSpPr>
          <p:cNvPr id="8" name="Text 6"/>
          <p:cNvSpPr/>
          <p:nvPr/>
        </p:nvSpPr>
        <p:spPr>
          <a:xfrm>
            <a:off x="868680" y="1691640"/>
            <a:ext cx="10698480" cy="365760"/>
          </a:xfrm>
          <a:prstGeom prst="rect">
            <a:avLst/>
          </a:prstGeom>
          <a:noFill/>
          <a:ln/>
        </p:spPr>
        <p:txBody>
          <a:bodyPr wrap="square" lIns="0" tIns="0" rIns="0" bIns="0"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Algorithmic transparency wins trust</a:t>
            </a:r>
            <a:endParaRPr lang="en-US" sz="1600" dirty="0"/>
          </a:p>
        </p:txBody>
      </p:sp>
      <p:sp>
        <p:nvSpPr>
          <p:cNvPr id="9" name="Text 7"/>
          <p:cNvSpPr/>
          <p:nvPr/>
        </p:nvSpPr>
        <p:spPr>
          <a:xfrm>
            <a:off x="868680" y="2057400"/>
            <a:ext cx="10698480" cy="5029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The reason string per recommendation made parental review possible. Users (and examiners) trust what they can inspect.</a:t>
            </a:r>
            <a:endParaRPr lang="en-US" sz="1200" dirty="0"/>
          </a:p>
        </p:txBody>
      </p:sp>
      <p:sp>
        <p:nvSpPr>
          <p:cNvPr id="10" name="Shape 8"/>
          <p:cNvSpPr/>
          <p:nvPr/>
        </p:nvSpPr>
        <p:spPr>
          <a:xfrm>
            <a:off x="548640" y="2715768"/>
            <a:ext cx="11247120" cy="1051560"/>
          </a:xfrm>
          <a:prstGeom prst="rect">
            <a:avLst/>
          </a:prstGeom>
          <a:solidFill>
            <a:srgbClr val="FFFFFF"/>
          </a:solidFill>
          <a:ln w="12700">
            <a:solidFill>
              <a:srgbClr val="E2E8F0"/>
            </a:solidFill>
            <a:prstDash val="solid"/>
          </a:ln>
          <a:effectLst>
            <a:outerShdw sx="100000" sy="100000" kx="0" ky="0" algn="bl" rotWithShape="0" blurRad="50800" dist="12700" dir="5400000">
              <a:srgbClr val="000000">
                <a:alpha val="6000"/>
              </a:srgbClr>
            </a:outerShdw>
          </a:effectLst>
        </p:spPr>
      </p:sp>
      <p:sp>
        <p:nvSpPr>
          <p:cNvPr id="11" name="Shape 9"/>
          <p:cNvSpPr/>
          <p:nvPr/>
        </p:nvSpPr>
        <p:spPr>
          <a:xfrm>
            <a:off x="548640" y="2715768"/>
            <a:ext cx="109728" cy="1051560"/>
          </a:xfrm>
          <a:prstGeom prst="rect">
            <a:avLst/>
          </a:prstGeom>
          <a:solidFill>
            <a:srgbClr val="065A82"/>
          </a:solidFill>
          <a:ln w="12700">
            <a:solidFill>
              <a:srgbClr val="065A82"/>
            </a:solidFill>
            <a:prstDash val="solid"/>
          </a:ln>
        </p:spPr>
      </p:sp>
      <p:sp>
        <p:nvSpPr>
          <p:cNvPr id="12" name="Text 10"/>
          <p:cNvSpPr/>
          <p:nvPr/>
        </p:nvSpPr>
        <p:spPr>
          <a:xfrm>
            <a:off x="868680" y="2852928"/>
            <a:ext cx="10698480" cy="365760"/>
          </a:xfrm>
          <a:prstGeom prst="rect">
            <a:avLst/>
          </a:prstGeom>
          <a:noFill/>
          <a:ln/>
        </p:spPr>
        <p:txBody>
          <a:bodyPr wrap="square" lIns="0" tIns="0" rIns="0" bIns="0"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Concurrency before caching</a:t>
            </a:r>
            <a:endParaRPr lang="en-US" sz="1600" dirty="0"/>
          </a:p>
        </p:txBody>
      </p:sp>
      <p:sp>
        <p:nvSpPr>
          <p:cNvPr id="13" name="Text 11"/>
          <p:cNvSpPr/>
          <p:nvPr/>
        </p:nvSpPr>
        <p:spPr>
          <a:xfrm>
            <a:off x="868680" y="3218688"/>
            <a:ext cx="10698480" cy="5029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Restructuring sequential awaits to parallel async cut load time more than any caching scheme would, with zero infra change.</a:t>
            </a:r>
            <a:endParaRPr lang="en-US" sz="1200" dirty="0"/>
          </a:p>
        </p:txBody>
      </p:sp>
      <p:sp>
        <p:nvSpPr>
          <p:cNvPr id="14" name="Shape 12"/>
          <p:cNvSpPr/>
          <p:nvPr/>
        </p:nvSpPr>
        <p:spPr>
          <a:xfrm>
            <a:off x="548640" y="3877056"/>
            <a:ext cx="11247120" cy="1051560"/>
          </a:xfrm>
          <a:prstGeom prst="rect">
            <a:avLst/>
          </a:prstGeom>
          <a:solidFill>
            <a:srgbClr val="FFFFFF"/>
          </a:solidFill>
          <a:ln w="12700">
            <a:solidFill>
              <a:srgbClr val="E2E8F0"/>
            </a:solidFill>
            <a:prstDash val="solid"/>
          </a:ln>
          <a:effectLst>
            <a:outerShdw sx="100000" sy="100000" kx="0" ky="0" algn="bl" rotWithShape="0" blurRad="50800" dist="12700" dir="5400000">
              <a:srgbClr val="000000">
                <a:alpha val="6000"/>
              </a:srgbClr>
            </a:outerShdw>
          </a:effectLst>
        </p:spPr>
      </p:sp>
      <p:sp>
        <p:nvSpPr>
          <p:cNvPr id="15" name="Shape 13"/>
          <p:cNvSpPr/>
          <p:nvPr/>
        </p:nvSpPr>
        <p:spPr>
          <a:xfrm>
            <a:off x="548640" y="3877056"/>
            <a:ext cx="109728" cy="1051560"/>
          </a:xfrm>
          <a:prstGeom prst="rect">
            <a:avLst/>
          </a:prstGeom>
          <a:solidFill>
            <a:srgbClr val="065A82"/>
          </a:solidFill>
          <a:ln w="12700">
            <a:solidFill>
              <a:srgbClr val="065A82"/>
            </a:solidFill>
            <a:prstDash val="solid"/>
          </a:ln>
        </p:spPr>
      </p:sp>
      <p:sp>
        <p:nvSpPr>
          <p:cNvPr id="16" name="Text 14"/>
          <p:cNvSpPr/>
          <p:nvPr/>
        </p:nvSpPr>
        <p:spPr>
          <a:xfrm>
            <a:off x="868680" y="4014216"/>
            <a:ext cx="10698480" cy="365760"/>
          </a:xfrm>
          <a:prstGeom prst="rect">
            <a:avLst/>
          </a:prstGeom>
          <a:noFill/>
          <a:ln/>
        </p:spPr>
        <p:txBody>
          <a:bodyPr wrap="square" lIns="0" tIns="0" rIns="0" bIns="0"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Hard rules &gt; soft scoring</a:t>
            </a:r>
            <a:endParaRPr lang="en-US" sz="1600" dirty="0"/>
          </a:p>
        </p:txBody>
      </p:sp>
      <p:sp>
        <p:nvSpPr>
          <p:cNvPr id="17" name="Text 15"/>
          <p:cNvSpPr/>
          <p:nvPr/>
        </p:nvSpPr>
        <p:spPr>
          <a:xfrm>
            <a:off x="868680" y="4379976"/>
            <a:ext cx="10698480" cy="5029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isKidSafe and seen-exclusion are filters, not score penalties. Soft penalties always have an exploit; filters can't be bypassed.</a:t>
            </a:r>
            <a:endParaRPr lang="en-US" sz="1200" dirty="0"/>
          </a:p>
        </p:txBody>
      </p:sp>
      <p:sp>
        <p:nvSpPr>
          <p:cNvPr id="18" name="Shape 16"/>
          <p:cNvSpPr/>
          <p:nvPr/>
        </p:nvSpPr>
        <p:spPr>
          <a:xfrm>
            <a:off x="548640" y="5038344"/>
            <a:ext cx="11247120" cy="1051560"/>
          </a:xfrm>
          <a:prstGeom prst="rect">
            <a:avLst/>
          </a:prstGeom>
          <a:solidFill>
            <a:srgbClr val="FFFFFF"/>
          </a:solidFill>
          <a:ln w="12700">
            <a:solidFill>
              <a:srgbClr val="E2E8F0"/>
            </a:solidFill>
            <a:prstDash val="solid"/>
          </a:ln>
          <a:effectLst>
            <a:outerShdw sx="100000" sy="100000" kx="0" ky="0" algn="bl" rotWithShape="0" blurRad="50800" dist="12700" dir="5400000">
              <a:srgbClr val="000000">
                <a:alpha val="6000"/>
              </a:srgbClr>
            </a:outerShdw>
          </a:effectLst>
        </p:spPr>
      </p:sp>
      <p:sp>
        <p:nvSpPr>
          <p:cNvPr id="19" name="Shape 17"/>
          <p:cNvSpPr/>
          <p:nvPr/>
        </p:nvSpPr>
        <p:spPr>
          <a:xfrm>
            <a:off x="548640" y="5038344"/>
            <a:ext cx="109728" cy="1051560"/>
          </a:xfrm>
          <a:prstGeom prst="rect">
            <a:avLst/>
          </a:prstGeom>
          <a:solidFill>
            <a:srgbClr val="065A82"/>
          </a:solidFill>
          <a:ln w="12700">
            <a:solidFill>
              <a:srgbClr val="065A82"/>
            </a:solidFill>
            <a:prstDash val="solid"/>
          </a:ln>
        </p:spPr>
      </p:sp>
      <p:sp>
        <p:nvSpPr>
          <p:cNvPr id="20" name="Text 18"/>
          <p:cNvSpPr/>
          <p:nvPr/>
        </p:nvSpPr>
        <p:spPr>
          <a:xfrm>
            <a:off x="868680" y="5175504"/>
            <a:ext cx="10698480" cy="365760"/>
          </a:xfrm>
          <a:prstGeom prst="rect">
            <a:avLst/>
          </a:prstGeom>
          <a:noFill/>
          <a:ln/>
        </p:spPr>
        <p:txBody>
          <a:bodyPr wrap="square" lIns="0" tIns="0" rIns="0" bIns="0"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Plan-tier constraints shape design</a:t>
            </a:r>
            <a:endParaRPr lang="en-US" sz="1600" dirty="0"/>
          </a:p>
        </p:txBody>
      </p:sp>
      <p:sp>
        <p:nvSpPr>
          <p:cNvPr id="21" name="Text 19"/>
          <p:cNvSpPr/>
          <p:nvPr/>
        </p:nvSpPr>
        <p:spPr>
          <a:xfrm>
            <a:off x="868680" y="5541264"/>
            <a:ext cx="10698480" cy="5029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Spark plan ruled out Cloud Functions, which forced client-side computation. The architecture documents the tradeoff explicitly.</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0" y="4114800"/>
            <a:ext cx="12161520" cy="54864"/>
          </a:xfrm>
          <a:prstGeom prst="rect">
            <a:avLst/>
          </a:prstGeom>
          <a:solidFill>
            <a:srgbClr val="1C7293"/>
          </a:solidFill>
          <a:ln w="12700">
            <a:solidFill>
              <a:srgbClr val="1C7293"/>
            </a:solidFill>
            <a:prstDash val="solid"/>
          </a:ln>
        </p:spPr>
      </p:sp>
      <p:sp>
        <p:nvSpPr>
          <p:cNvPr id="3" name="Text 1"/>
          <p:cNvSpPr/>
          <p:nvPr/>
        </p:nvSpPr>
        <p:spPr>
          <a:xfrm>
            <a:off x="731520" y="1463040"/>
            <a:ext cx="10698480" cy="1097280"/>
          </a:xfrm>
          <a:prstGeom prst="rect">
            <a:avLst/>
          </a:prstGeom>
          <a:noFill/>
          <a:ln/>
        </p:spPr>
        <p:txBody>
          <a:bodyPr wrap="square" lIns="0" tIns="0" rIns="0" bIns="0" rtlCol="0" anchor="ctr"/>
          <a:lstStyle/>
          <a:p>
            <a:pPr indent="0" marL="0">
              <a:buNone/>
            </a:pPr>
            <a:r>
              <a:rPr lang="en-US" sz="7200" b="1" dirty="0">
                <a:solidFill>
                  <a:srgbClr val="FFFFFF"/>
                </a:solidFill>
                <a:latin typeface="Cambria" pitchFamily="34" charset="0"/>
                <a:ea typeface="Cambria" pitchFamily="34" charset="-122"/>
                <a:cs typeface="Cambria" pitchFamily="34" charset="-120"/>
              </a:rPr>
              <a:t>Questions?</a:t>
            </a:r>
            <a:endParaRPr lang="en-US" sz="7200" dirty="0"/>
          </a:p>
        </p:txBody>
      </p:sp>
      <p:sp>
        <p:nvSpPr>
          <p:cNvPr id="4" name="Text 2"/>
          <p:cNvSpPr/>
          <p:nvPr/>
        </p:nvSpPr>
        <p:spPr>
          <a:xfrm>
            <a:off x="731520" y="2651760"/>
            <a:ext cx="10698480" cy="457200"/>
          </a:xfrm>
          <a:prstGeom prst="rect">
            <a:avLst/>
          </a:prstGeom>
          <a:noFill/>
          <a:ln/>
        </p:spPr>
        <p:txBody>
          <a:bodyPr wrap="square" lIns="0" tIns="0" rIns="0" bIns="0" rtlCol="0" anchor="ctr"/>
          <a:lstStyle/>
          <a:p>
            <a:pPr indent="0" marL="0">
              <a:buNone/>
            </a:pPr>
            <a:r>
              <a:rPr lang="en-US" sz="1800" i="1" dirty="0">
                <a:solidFill>
                  <a:srgbClr val="9DECFF"/>
                </a:solidFill>
                <a:latin typeface="Calibri" pitchFamily="34" charset="0"/>
                <a:ea typeface="Calibri" pitchFamily="34" charset="-122"/>
                <a:cs typeface="Calibri" pitchFamily="34" charset="-120"/>
              </a:rPr>
              <a:t>Hybrid CF · Cosine similarity · Parallel data fetch · Explainable scoring</a:t>
            </a:r>
            <a:endParaRPr lang="en-US" sz="1800" dirty="0"/>
          </a:p>
        </p:txBody>
      </p:sp>
      <p:sp>
        <p:nvSpPr>
          <p:cNvPr id="5" name="Text 3"/>
          <p:cNvSpPr/>
          <p:nvPr/>
        </p:nvSpPr>
        <p:spPr>
          <a:xfrm>
            <a:off x="731520" y="4572000"/>
            <a:ext cx="10698480" cy="365760"/>
          </a:xfrm>
          <a:prstGeom prst="rect">
            <a:avLst/>
          </a:prstGeom>
          <a:noFill/>
          <a:ln/>
        </p:spPr>
        <p:txBody>
          <a:bodyPr wrap="square" lIns="0" tIns="0" rIns="0" bIns="0" rtlCol="0" anchor="ctr"/>
          <a:lstStyle/>
          <a:p>
            <a:pPr indent="0" marL="0">
              <a:buNone/>
            </a:pPr>
            <a:r>
              <a:rPr lang="en-US" sz="1400" b="1" dirty="0">
                <a:solidFill>
                  <a:srgbClr val="F9E795"/>
                </a:solidFill>
                <a:latin typeface="Calibri" pitchFamily="34" charset="0"/>
                <a:ea typeface="Calibri" pitchFamily="34" charset="-122"/>
                <a:cs typeface="Calibri" pitchFamily="34" charset="-120"/>
              </a:rPr>
              <a:t>Source</a:t>
            </a:r>
            <a:endParaRPr lang="en-US" sz="1400" dirty="0"/>
          </a:p>
        </p:txBody>
      </p:sp>
      <p:sp>
        <p:nvSpPr>
          <p:cNvPr id="6" name="Text 4"/>
          <p:cNvSpPr/>
          <p:nvPr/>
        </p:nvSpPr>
        <p:spPr>
          <a:xfrm>
            <a:off x="731520" y="4937760"/>
            <a:ext cx="10698480" cy="365760"/>
          </a:xfrm>
          <a:prstGeom prst="rect">
            <a:avLst/>
          </a:prstGeom>
          <a:noFill/>
          <a:ln/>
        </p:spPr>
        <p:txBody>
          <a:bodyPr wrap="square" lIns="0" tIns="0" rIns="0" bIns="0" rtlCol="0" anchor="ctr"/>
          <a:lstStyle/>
          <a:p>
            <a:pPr indent="0" marL="0">
              <a:buNone/>
            </a:pPr>
            <a:r>
              <a:rPr lang="en-US" sz="1300" dirty="0">
                <a:solidFill>
                  <a:srgbClr val="FFFFFF"/>
                </a:solidFill>
                <a:latin typeface="Consolas" pitchFamily="34" charset="0"/>
                <a:ea typeface="Consolas" pitchFamily="34" charset="-122"/>
                <a:cs typeface="Consolas" pitchFamily="34" charset="-120"/>
              </a:rPr>
              <a:t>app/src/main/java/com/kidsrec/chatbot/data/repository/CollaborativeFilteringService.kt</a:t>
            </a:r>
            <a:endParaRPr lang="en-US" sz="1300" dirty="0"/>
          </a:p>
        </p:txBody>
      </p:sp>
      <p:sp>
        <p:nvSpPr>
          <p:cNvPr id="7" name="Text 5"/>
          <p:cNvSpPr/>
          <p:nvPr/>
        </p:nvSpPr>
        <p:spPr>
          <a:xfrm>
            <a:off x="731520" y="6126480"/>
            <a:ext cx="10698480" cy="365760"/>
          </a:xfrm>
          <a:prstGeom prst="rect">
            <a:avLst/>
          </a:prstGeom>
          <a:noFill/>
          <a:ln/>
        </p:spPr>
        <p:txBody>
          <a:bodyPr wrap="square" lIns="0" tIns="0" rIns="0" bIns="0" rtlCol="0" anchor="ctr"/>
          <a:lstStyle/>
          <a:p>
            <a:pPr indent="0" marL="0">
              <a:buNone/>
            </a:pPr>
            <a:r>
              <a:rPr lang="en-US" sz="1200" dirty="0">
                <a:solidFill>
                  <a:srgbClr val="9DB4E0"/>
                </a:solidFill>
                <a:latin typeface="Calibri" pitchFamily="34" charset="0"/>
                <a:ea typeface="Calibri" pitchFamily="34" charset="-122"/>
                <a:cs typeface="Calibri" pitchFamily="34" charset="-120"/>
              </a:rPr>
              <a:t>Felix Eng Cheng Kang · FYP26S123 · Little Dino</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Hybrid Collaborative Filtering — Little Dino</dc:title>
  <dc:subject>PptxGenJS Presentation</dc:subject>
  <dc:creator>Felix Eng Cheng Kang</dc:creator>
  <cp:lastModifiedBy>Felix Eng Cheng Kang</cp:lastModifiedBy>
  <cp:revision>1</cp:revision>
  <dcterms:created xsi:type="dcterms:W3CDTF">2026-05-07T18:24:53Z</dcterms:created>
  <dcterms:modified xsi:type="dcterms:W3CDTF">2026-05-07T18:24:53Z</dcterms:modified>
</cp:coreProperties>
</file>